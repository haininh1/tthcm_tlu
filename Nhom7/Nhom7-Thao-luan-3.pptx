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IDUNG">
    <p:bg>
      <p:bgPr>
        <a:solidFill>
          <a:srgbClr val="DDCF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A">
    <p:bg>
      <p:bgPr>
        <a:solidFill>
          <a:srgbClr val="8F1D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jp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ini\AppData\Local\Temp\claude\C--Workin-LSD-Nhom7\1145ae02-ecf3-4e4a-b586-20e944354baa\scratchpad\pptx\img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2615" y="0"/>
            <a:ext cx="406908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2920" y="502920"/>
            <a:ext cx="7223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TÍCH NHỮNG ĐIỂM SÁNG TẠO TRONG TƯ TƯỞNG HỒ CHÍ MINH</a:t>
            </a:r>
            <a:endParaRPr lang="en-US" sz="3800" dirty="0"/>
          </a:p>
        </p:txBody>
      </p:sp>
      <p:sp>
        <p:nvSpPr>
          <p:cNvPr id="4" name="Text 1"/>
          <p:cNvSpPr txBox="1"/>
          <p:nvPr/>
        </p:nvSpPr>
        <p:spPr>
          <a:xfrm>
            <a:off x="502920" y="25146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E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VỀ NỘI DUNG XÂY DỰNG CHỦ NGHĨA XÃ HỘI TRONG THỜI KỲ QUÁ ĐỘ Ở VIỆT NAM</a:t>
            </a:r>
            <a:endParaRPr lang="en-US" sz="23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56616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Môn: Tư tưởng Hồ Chí Minh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GVHD: Ths. Nguyễn Thị Ngọc Dung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4343400"/>
            <a:ext cx="7223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Nhóm 7: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Nguyễn Hồng Phúc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 Nguyễn Anh Quân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 Nguyễn Hữu Quân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 Trần Văn Hồng Quân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 Nguyễn Lương Quang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 Nguyễn Văn Quang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 Vũ Văn Quảng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trình bày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 cục 3 phần</a:t>
            </a:r>
            <a:endParaRPr lang="en-US" sz="3400" dirty="0"/>
          </a:p>
        </p:txBody>
      </p:sp>
      <p:pic>
        <p:nvPicPr>
          <p:cNvPr id="4" name="Image 0" descr="C:\Users\haini\AppData\Local\Temp\claude\C--Workin-LSD-Nhom7\1145ae02-ecf3-4e4a-b586-20e944354baa\scratchpad\pptx\img\s2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08760"/>
            <a:ext cx="3606698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02920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chất, đặc điểm và nhiệm vụ của thời kỳ quá độ</a:t>
            </a:r>
            <a:endParaRPr lang="en-US" sz="1800" dirty="0"/>
          </a:p>
        </p:txBody>
      </p:sp>
      <p:pic>
        <p:nvPicPr>
          <p:cNvPr id="7" name="Image 1" descr="C:\Users\haini\AppData\Local\Temp\claude\C--Workin-LSD-Nhom7\1145ae02-ecf3-4e4a-b586-20e944354baa\scratchpad\pptx\img\s2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498" y="1508760"/>
            <a:ext cx="3606698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75378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4475378" y="502920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xây dựng CNXH ở nước ta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475378" y="5833872"/>
            <a:ext cx="3332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Kinh tế, b. Chính trị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Tư tưởng, văn hoá, xã hội</a:t>
            </a:r>
            <a:endParaRPr lang="en-US" sz="1500" dirty="0"/>
          </a:p>
        </p:txBody>
      </p:sp>
      <p:pic>
        <p:nvPicPr>
          <p:cNvPr id="11" name="Image 2" descr="C:\Users\haini\AppData\Local\Temp\claude\C--Workin-LSD-Nhom7\1145ae02-ecf3-4e4a-b586-20e944354baa\scratchpad\pptx\img\s2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077" y="1508760"/>
            <a:ext cx="3606698" cy="2743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4957" y="4434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8"/>
          <p:cNvSpPr txBox="1"/>
          <p:nvPr/>
        </p:nvSpPr>
        <p:spPr>
          <a:xfrm>
            <a:off x="8264957" y="5029200"/>
            <a:ext cx="33323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điểm sáng tạo và kết luận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ini\AppData\Local\Temp\claude\C--Workin-LSD-Nhom7\1145ae02-ecf3-4e4a-b586-20e944354baa\scratchpad\pptx\img\s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10528"/>
            <a:ext cx="3429000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6510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Hồ với bộ đội tại Đền Hùng, 9/1954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3931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01 - Tính chất thời kỳ quá độ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931920" y="777240"/>
            <a:ext cx="7756855" cy="128016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160520" y="896112"/>
            <a:ext cx="72996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cuộc biến đổi </a:t>
            </a:r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khó khăn nhất, sâu sắc nhất</a:t>
            </a:r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"thậm chí nó còn gian nan, phức tạp hơn cả việc đánh giặc"</a:t>
            </a:r>
            <a:endParaRPr lang="en-US" sz="2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Chí Minh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931920" y="2240280"/>
            <a:ext cx="2494178" cy="260604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33088" y="2404872"/>
            <a:ext cx="209184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Đảo lộn mọi mặt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Lực lượng sản xuất, quan hệ sản xuất, kiến trúc thượng tầng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"một cuộc chiến đấu khổng lồ"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563258" y="2240280"/>
            <a:ext cx="2494178" cy="260604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64426" y="2404872"/>
            <a:ext cx="209184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Công việc mới mẻ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Vừa làm, vừa học, vừa rút kinh nghiệm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chưa có nhiều kinh nghiệm, nhất là về kinh tế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194597" y="2240280"/>
            <a:ext cx="2494178" cy="260604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395765" y="2404872"/>
            <a:ext cx="2091842" cy="2276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Bị chống phá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lực phản động trong và ngoài nước tìm cách chống phá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931920" y="5029200"/>
            <a:ext cx="7756855" cy="1371600"/>
          </a:xfrm>
          <a:prstGeom prst="rect">
            <a:avLst/>
          </a:prstGeom>
          <a:solidFill>
            <a:srgbClr val="A9C3D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160520" y="50292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Lời dặn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5029200"/>
            <a:ext cx="61566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thận trọng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tránh nôn nóng, chủ quan,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đốt cháy giai đoạn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xác định đúng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đi và hình thức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phù hợp trình độ lực lượng sản xuất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01 - Đặc điểm và nhiệm vụ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31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điểm to nhất của nước ta trong thời kỳ quá độ: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834640" cy="100584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325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Nước nông nghiệp lạc hậu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311335" y="1325880"/>
            <a:ext cx="2377440" cy="100584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494215" y="13258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nghĩa xã hội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20440" y="1691640"/>
            <a:ext cx="5608015" cy="0"/>
          </a:xfrm>
          <a:prstGeom prst="line">
            <a:avLst/>
          </a:prstGeom>
          <a:noFill/>
          <a:ln w="38100">
            <a:solidFill>
              <a:srgbClr val="141210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520440" y="1828800"/>
            <a:ext cx="56080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thẳng, không kinh qua giai đoạn phát triển TBCN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5852160" cy="38404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2770632"/>
            <a:ext cx="54498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Quan trọng nhất: </a:t>
            </a:r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nền tảng vật chất - kỹ thuật của CNXH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Xây dựng tiền đề kinh tế, chính trị, văn hoá, tư tưởng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Cải tạo xã hội cũ, xây dựng xã hội mới - "xây dựng là nhiệm vụ chủ chốt và lâu dài"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Thay đổi triệt để nếp sống, thói quen, ý nghĩ có gốc rễ hàng ngàn năm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Thay đổi quan hệ sản xuất cũ, xoá bỏ giai cấp bóc lột; biến nước dốt nát, cực khổ thành nước có văn hoá cao, đời sống tươi vui hạnh phúc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2606040"/>
            <a:ext cx="5150815" cy="182880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39128" y="2770632"/>
            <a:ext cx="4748479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sáng tạo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thẳng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lên CNXH, nhưng đi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tự từng bước, từ thấp đến cao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qua các khâu trung gian, quá độ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37960" y="4617720"/>
            <a:ext cx="5150815" cy="182880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39128" y="4782312"/>
            <a:ext cx="4748479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hết và quan trọng nhất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Sự lãnh đạo của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Đảng Cộng sản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khối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đại đoàn kết toàn dân tộc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- Lĩnh vực kinh tế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58368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năng suất lao động trên cơ sở công nghiệp hoá XHCN</a:t>
            </a:r>
            <a:endParaRPr lang="en-US" sz="3000" dirty="0"/>
          </a:p>
        </p:txBody>
      </p:sp>
      <p:pic>
        <p:nvPicPr>
          <p:cNvPr id="4" name="Image 0" descr="C:\Users\haini\AppData\Local\Temp\claude\C--Workin-LSD-Nhom7\1145ae02-ecf3-4e4a-b586-20e944354baa\scratchpad\pptx\img\s5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2926080" cy="4343400"/>
          </a:xfrm>
          <a:prstGeom prst="rect">
            <a:avLst/>
          </a:prstGeom>
        </p:spPr>
      </p:pic>
      <p:pic>
        <p:nvPicPr>
          <p:cNvPr id="5" name="Image 1" descr="C:\Users\haini\AppData\Local\Temp\claude\C--Workin-LSD-Nhom7\1145ae02-ecf3-4e4a-b586-20e944354baa\scratchpad\pptx\img\s5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63040"/>
            <a:ext cx="2926080" cy="4343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" y="5458968"/>
            <a:ext cx="2336292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12648" y="5458968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Gang thép Thái Nguyên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3429000" y="5458968"/>
            <a:ext cx="2432304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3538728" y="5458968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Nông dân trên đồng lúa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325880" y="1627632"/>
            <a:ext cx="4206240" cy="50292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1325880" y="16276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"Hai chân" của nền kinh tế nước nhà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583680" y="1463040"/>
            <a:ext cx="5105095" cy="10972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784848" y="1627632"/>
            <a:ext cx="470275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Nông nghiệp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mặt trận hàng đầu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583680" y="2715768"/>
            <a:ext cx="5105095" cy="128016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784848" y="2880360"/>
            <a:ext cx="470275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nghiệp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cầu nối tốt nhất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giữa các ngành sản xuất xã hội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6583680" y="4151376"/>
            <a:ext cx="5105095" cy="1655064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784848" y="4315968"/>
            <a:ext cx="470275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3 cơ cấu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Cơ cấu kinh tế ngành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Cơ cấu các thành phần kinh tế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Cơ cấu vùng kinh tế và lãnh thổ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"Kẻ thù muốn đè bẹp ta về kinh tế thay bằng quân sự, vì vậy ta phải phát triển kinh tế."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- Lĩnh vực kinh tế - Cơ cấu nhiều thành phần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11185855" cy="96012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04088" y="7315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sáng tạo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731520"/>
            <a:ext cx="9082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Chí Minh là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đầu tiên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ở nước ta chủ trương phát triển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 nhiều thành phần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trong suốt thời kỳ quá độ, xác định rõ vị trí và xu hướng của từng thành phần</a:t>
            </a:r>
            <a:endParaRPr lang="en-US" sz="1800" dirty="0"/>
          </a:p>
        </p:txBody>
      </p:sp>
      <p:pic>
        <p:nvPicPr>
          <p:cNvPr id="6" name="Image 0" descr="C:\Users\haini\AppData\Local\Temp\claude\C--Workin-LSD-Nhom7\1145ae02-ecf3-4e4a-b586-20e944354baa\scratchpad\pptx\img\s6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693594" cy="1417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2898648"/>
            <a:ext cx="2693594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12648" y="2898648"/>
            <a:ext cx="2556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Hồ thăm nhà máy, 1959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3246120"/>
            <a:ext cx="2693594" cy="320040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7512" y="3383280"/>
            <a:ext cx="23826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PHÁT TRIỂN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 quốc doanh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nền tảng vật chất cho CNXH, thúc đẩy cải tạo xã hội chủ nghĩa</a:t>
            </a:r>
            <a:endParaRPr lang="en-US" sz="1500" dirty="0"/>
          </a:p>
        </p:txBody>
      </p:sp>
      <p:pic>
        <p:nvPicPr>
          <p:cNvPr id="11" name="Image 1" descr="C:\Users\haini\AppData\Local\Temp\claude\C--Workin-LSD-Nhom7\1145ae02-ecf3-4e4a-b586-20e944354baa\scratchpad\pptx\img\s6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674" y="1828800"/>
            <a:ext cx="2693594" cy="1417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3674" y="2898648"/>
            <a:ext cx="1856232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43402" y="289864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Nông dân gặt lúa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333674" y="3246120"/>
            <a:ext cx="2693594" cy="320040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3498266" y="3383280"/>
            <a:ext cx="23826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BIỆT KHUYẾN KHÍCH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tác xã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Sở hữu tập thể của nhân dân lao động.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tắc: </a:t>
            </a:r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dần dần, từ thấp đến cao, tự nguyện, cùng có lợi</a:t>
            </a:r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chống chủ quan, gò ép, hình thức</a:t>
            </a:r>
            <a:endParaRPr lang="en-US" sz="1500" dirty="0"/>
          </a:p>
        </p:txBody>
      </p:sp>
      <p:pic>
        <p:nvPicPr>
          <p:cNvPr id="16" name="Image 2" descr="C:\Users\haini\AppData\Local\Temp\claude\C--Workin-LSD-Nhom7\1145ae02-ecf3-4e4a-b586-20e944354baa\scratchpad\pptx\img\s6c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428" y="1828800"/>
            <a:ext cx="2693594" cy="14173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164428" y="2898648"/>
            <a:ext cx="2693594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274156" y="2898648"/>
            <a:ext cx="25564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gốm thủ công Bát Tràng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64428" y="3246120"/>
            <a:ext cx="2693594" cy="320040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29020" y="3383280"/>
            <a:ext cx="23826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HỘ SỞ HỮU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Thợ thủ công, lao động riêng lẻ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dẫn, giúp cải tiến cách làm ăn; khuyến khích đi vào con đường hợp tác</a:t>
            </a:r>
            <a:endParaRPr lang="en-US" sz="1500" dirty="0"/>
          </a:p>
        </p:txBody>
      </p:sp>
      <p:pic>
        <p:nvPicPr>
          <p:cNvPr id="21" name="Image 3" descr="C:\Users\haini\AppData\Local\Temp\claude\C--Workin-LSD-Nhom7\1145ae02-ecf3-4e4a-b586-20e944354baa\scratchpad\pptx\img\s6d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181" y="1828800"/>
            <a:ext cx="2693594" cy="14173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995181" y="2898648"/>
            <a:ext cx="2624328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104909" y="289864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Buôn bán ở chợ Đồng Xuân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8995181" y="3246120"/>
            <a:ext cx="2693594" cy="3200400"/>
          </a:xfrm>
          <a:prstGeom prst="rect">
            <a:avLst/>
          </a:prstGeom>
          <a:solidFill>
            <a:srgbClr val="A9C3D3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9159773" y="3383280"/>
            <a:ext cx="238269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XOÁ BỎ SỞ HỮU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sản công thương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Hướng dẫn làm lợi cho quốc kế dân sinh, phù hợp kinh tế nhà nước; cải tạo theo CNXH bằng </a:t>
            </a:r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thức tư bản nhà nước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Vì: đã ủng hộ cách mạng dân tộc dân chủ, có đóng góp khôi phục kinh tế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ini\AppData\Local\Temp\claude\C--Workin-LSD-Nhom7\1145ae02-ecf3-4e4a-b586-20e944354baa\scratchpad\pptx\img\s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9815" y="0"/>
            <a:ext cx="36118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9815" y="6510528"/>
            <a:ext cx="2720340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689543" y="6510528"/>
            <a:ext cx="25831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Hồ thăm nhà máy, 1959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 - Lĩnh vực kinh tế - Phân phối và quản lý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731520"/>
            <a:ext cx="7619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phân phối theo lao động: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2448458" cy="10972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02920" y="1325880"/>
            <a:ext cx="2448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nhiều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hưởng nhiều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088538" y="1325880"/>
            <a:ext cx="2448458" cy="109728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088538" y="1325880"/>
            <a:ext cx="2448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ít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hưởng ít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5674157" y="1325880"/>
            <a:ext cx="2448458" cy="109728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674157" y="1325880"/>
            <a:ext cx="24484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làm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hưởng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02920" y="2651760"/>
            <a:ext cx="3741268" cy="379476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04088" y="2816352"/>
            <a:ext cx="333893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sáng tạo: Chế độ khoán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 </a:t>
            </a:r>
            <a:pPr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điều kiện của CNXH</a:t>
            </a:r>
            <a:pPr indent="0" marL="0">
              <a:spcAft>
                <a:spcPts val="1000"/>
              </a:spcAft>
              <a:buNone/>
            </a:pPr>
            <a:r>
              <a:rPr lang="en-US" sz="21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khuyến khích công nhân luôn tiến bộ, nhà máy tiến bộ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"Làm khoán là ích chung và lợi riêng"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4381348" y="2651760"/>
            <a:ext cx="3741268" cy="379476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582516" y="2816352"/>
            <a:ext cx="3338932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kinh tế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Dựa trên </a:t>
            </a:r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hạch toán</a:t>
            </a:r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hiệu quả cao; dùng tốt các </a:t>
            </a:r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đòn bẩy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</a:t>
            </a:r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Đa dạng hoá</a:t>
            </a:r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sở hữu; Nhà nước bảo hộ quyền sở hữu tư liệu sản xuất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Sử dụng </a:t>
            </a:r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thức và phương tiện của CNTB</a:t>
            </a:r>
            <a:pPr indent="0" marL="0"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để xây dựng CNXH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ini\AppData\Local\Temp\claude\C--Workin-LSD-Nhom7\1145ae02-ecf3-4e4a-b586-20e944354baa\scratchpad\pptx\img\s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6510528"/>
            <a:ext cx="3200400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109728" y="65105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trường Ba Đình, 2/9/1945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1605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2b - Lĩnh vực chính trị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160520" y="731520"/>
            <a:ext cx="7528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quan trọng nhất: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160520" y="1188720"/>
            <a:ext cx="7528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vững và phát huy vai trò lãnh đạo của Đảng Cộng sản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160520" y="2606040"/>
            <a:ext cx="3695548" cy="265176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61688" y="2770632"/>
            <a:ext cx="32932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Mặt trận dân tộc thống nhất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Củng cố và </a:t>
            </a:r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Nòng cốt: liên minh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nhân - nông dân - trí thức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do Đảng Cộng sản lãnh đạo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93228" y="2606040"/>
            <a:ext cx="3695548" cy="265176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194396" y="2770632"/>
            <a:ext cx="3293212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chính trị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Củng cố, tăng cường sức mạnh của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bộ hệ thống chính trị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và các thành tố của nó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160520" y="5440680"/>
            <a:ext cx="7528255" cy="1005840"/>
          </a:xfrm>
          <a:prstGeom prst="rect">
            <a:avLst/>
          </a:prstGeom>
          <a:solidFill>
            <a:srgbClr val="D8C07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61688" y="5605272"/>
            <a:ext cx="712591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Chế độ ta là chế độ dân chủ. Tức là nhân dân làm chủ.</a:t>
            </a:r>
            <a:endParaRPr lang="en-US" sz="19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Chí Minh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ini\AppData\Local\Temp\claude\C--Workin-LSD-Nhom7\1145ae02-ecf3-4e4a-b586-20e944354baa\scratchpad\pptx\img\s9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2343" y="457200"/>
            <a:ext cx="3456432" cy="2834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32343" y="2944368"/>
            <a:ext cx="2240280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8342071" y="29443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Bác Hồ với thiếu nhi</a:t>
            </a:r>
            <a:endParaRPr lang="en-US" sz="1200" dirty="0"/>
          </a:p>
        </p:txBody>
      </p:sp>
      <p:pic>
        <p:nvPicPr>
          <p:cNvPr id="5" name="Image 1" descr="C:\Users\haini\AppData\Local\Temp\claude\C--Workin-LSD-Nhom7\1145ae02-ecf3-4e4a-b586-20e944354baa\scratchpad\pptx\img\s9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2343" y="3520440"/>
            <a:ext cx="3456432" cy="28346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32343" y="6007608"/>
            <a:ext cx="2336292" cy="347472"/>
          </a:xfrm>
          <a:prstGeom prst="rect">
            <a:avLst/>
          </a:prstGeom>
          <a:solidFill>
            <a:srgbClr val="DDCFA6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342071" y="6007608"/>
            <a:ext cx="21991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sinh Hà Nội, 1952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2c - Lĩnh vực tư tưởng, văn hoá, xã hội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731520"/>
            <a:ext cx="745510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cải tạo xã hội chủ nghĩa thì phải cải tạo chính mình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502920" y="2057400"/>
            <a:ext cx="7455103" cy="114300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31520" y="2057400"/>
            <a:ext cx="699790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"Nếu không có tư tưởng xã hội chủ nghĩa thì không làm việc xã hội chủ nghĩa được"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02920" y="3383280"/>
            <a:ext cx="3658972" cy="297180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04088" y="3547872"/>
            <a:ext cx="32566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khắc phục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thức yếu kém, chính trị bấp bênh, kinh tế trì trệ, văn hoá lạc hậu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=&gt; thoái hoá cán bộ, đảng viên - "khe hở" để CNTB lợi dụng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299052" y="3383280"/>
            <a:ext cx="3658972" cy="297180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500220" y="3547872"/>
            <a:ext cx="32566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Trước hết phải có học thức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văn hoá, chính trị, kỹ thuật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cao dân trí; đào tạo và sử dụng nhân tài; khẳng định vai trò to lớn của văn hoá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03 - Những điểm sáng tạo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8580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Vận dụng sáng tạo chủ nghĩa Mác - Lênin vào điều kiện cụ thể Việt Nam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37178" cy="22402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194767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Bước đi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nước nông nghiệp lạc hậu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 thẳng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lên CNXH, không qua TBCN - nhưng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tự, từ thấp đến cao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77258" y="1783080"/>
            <a:ext cx="3637178" cy="224028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78426" y="194767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Kinh tế nhiều thành phần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đầu tiên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chủ trương, trong suốt thời kỳ quá độ; mỗi thành phần một chính sách riêng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51597" y="1783080"/>
            <a:ext cx="3637178" cy="224028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52765" y="194767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Ngành kinh tế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Nông nghiệp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là mặt trận hàng đầu; công nghiệp - nông nghiệp là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"hai chân"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160520"/>
            <a:ext cx="3637178" cy="2240280"/>
          </a:xfrm>
          <a:prstGeom prst="rect">
            <a:avLst/>
          </a:prstGeom>
          <a:solidFill>
            <a:srgbClr val="A9C3D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432511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Phương tiện, động lực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thức, phương tiện của CNTB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tư bản nhà nước;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khoán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"ích chung và lợi riêng"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277258" y="4160520"/>
            <a:ext cx="3637178" cy="2240280"/>
          </a:xfrm>
          <a:prstGeom prst="rect">
            <a:avLst/>
          </a:prstGeom>
          <a:solidFill>
            <a:srgbClr val="D8C0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78426" y="432511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Chính trị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Đảng lãnh đạo + mặt trận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nòng cốt </a:t>
            </a:r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- nông - trí thức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51597" y="4160520"/>
            <a:ext cx="3637178" cy="2240280"/>
          </a:xfrm>
          <a:prstGeom prst="rect">
            <a:avLst/>
          </a:prstGeom>
          <a:solidFill>
            <a:srgbClr val="C6B4C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52765" y="4325112"/>
            <a:ext cx="323484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 người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tạo chính mình</a:t>
            </a:r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có tư tưởng XHCN, học thức; nâng cao dân trí, trọng nhân tài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CNXH đòi hỏi năng lực lãnh đạo, nguyên tắc khoa học, hiểu quy luật khách quan và nghệ thuật khôn khéo, sát với thực tế.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3637178" cy="173736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2267712"/>
            <a:ext cx="323484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Nhiều thành phần, công nghiệp hoá, phân phối theo lao động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77258" y="2103120"/>
            <a:ext cx="3637178" cy="173736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78426" y="2267712"/>
            <a:ext cx="323484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trị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vững vai trò lãnh đạo của Đảng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51597" y="2103120"/>
            <a:ext cx="3637178" cy="173736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52765" y="2267712"/>
            <a:ext cx="3234842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tưởng - văn hoá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Cải tạo chính mình, nâng cao dân trí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69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Sức mạnh quyết định: sự lãnh đạo của Đảng + khối đại đoàn kết toàn dân tộc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89204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Xin cảm ơn!</a:t>
            </a:r>
            <a:endParaRPr lang="en-US" sz="6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Phụ lục - Ôn tập vấn đáp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5524348" cy="10972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04088" y="896112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Nguyên tắc tổ chức HTX?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Dần dần, từ thấp đến cao, tự nguyện, cùng có lợi; chống chủ quan, gò ép, hình thức.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64428" y="731520"/>
            <a:ext cx="5524348" cy="109728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65596" y="896112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"Hai chân" của nền kinh tế?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nghiệp và nông nghiệp.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01952"/>
            <a:ext cx="5524348" cy="109728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04088" y="2066544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Ưu tiên phát triển thành phần nào?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 quốc doanh - tạo nền tảng vật chất cho CNXH.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64428" y="1901952"/>
            <a:ext cx="5524348" cy="1097280"/>
          </a:xfrm>
          <a:prstGeom prst="rect">
            <a:avLst/>
          </a:prstGeom>
          <a:solidFill>
            <a:srgbClr val="A9C3D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5596" y="2066544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Chính trị - quan trọng nhất?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vững và phát huy vai trò lãnh đạo của Đảng Cộng sản.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072384"/>
            <a:ext cx="5524348" cy="1097280"/>
          </a:xfrm>
          <a:prstGeom prst="rect">
            <a:avLst/>
          </a:prstGeom>
          <a:solidFill>
            <a:srgbClr val="D8C07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3236976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Với tư sản công thương?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xoá bỏ sở hữu; hướng dẫn làm lợi cho quốc kế dân sinh; cải tạo bằng hình thức tư bản nhà nước.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64428" y="3072384"/>
            <a:ext cx="5524348" cy="1097280"/>
          </a:xfrm>
          <a:prstGeom prst="rect">
            <a:avLst/>
          </a:prstGeom>
          <a:solidFill>
            <a:srgbClr val="C6B4C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5596" y="3236976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Với thợ thủ công, lao động riêng lẻ?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hộ quyền sở hữu TLSX; giúp cải tiến cách làm ăn; khuyến khích đi vào hợp tác.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242816"/>
            <a:ext cx="5524348" cy="1097280"/>
          </a:xfrm>
          <a:prstGeom prst="rect">
            <a:avLst/>
          </a:prstGeom>
          <a:solidFill>
            <a:srgbClr val="CBB9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" y="4407408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Phân phối theo lao động?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nhiều hưởng nhiều, làm ít hưởng ít, không làm không hưởng.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64428" y="4242816"/>
            <a:ext cx="5524348" cy="1097280"/>
          </a:xfrm>
          <a:prstGeom prst="rect">
            <a:avLst/>
          </a:prstGeom>
          <a:solidFill>
            <a:srgbClr val="B7C9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5596" y="4407408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Những cơ cấu cần xây dựng?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cấu ngành; cơ cấu thành phần kinh tế; cơ cấu vùng kinh tế và lãnh thổ.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5413248"/>
            <a:ext cx="5524348" cy="1097280"/>
          </a:xfrm>
          <a:prstGeom prst="rect">
            <a:avLst/>
          </a:prstGeom>
          <a:solidFill>
            <a:srgbClr val="E0B9A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" y="5577840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"Nếu không có tư tưởng XHCN..."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...thì không làm việc xã hội chủ nghĩa được.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64428" y="5413248"/>
            <a:ext cx="5524348" cy="1097280"/>
          </a:xfrm>
          <a:prstGeom prst="rect">
            <a:avLst/>
          </a:prstGeom>
          <a:solidFill>
            <a:srgbClr val="A9C3D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65596" y="5577840"/>
            <a:ext cx="51220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Quan niệm về kinh tế HTX?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41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thức sở hữu tập thể của nhân dân lao động; Nhà nước đặc biệt khuyến khích, hướng dẫn, giúp đỡ.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Những điểm sáng tạo trong Tư tưởng Hồ Chí Minh về xây dựng CNXH thời kỳ quá độ</dc:title>
  <dc:subject>PptxGenJS Presentation</dc:subject>
  <dc:creator>Nhóm 7</dc:creator>
  <cp:lastModifiedBy>Nhóm 7</cp:lastModifiedBy>
  <cp:revision>1</cp:revision>
  <dcterms:created xsi:type="dcterms:W3CDTF">2026-10-11T16:15:57Z</dcterms:created>
  <dcterms:modified xsi:type="dcterms:W3CDTF">2026-10-11T16:15:57Z</dcterms:modified>
</cp:coreProperties>
</file>