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1365" cy="6858000"/>
  <p:notesSz cx="6858000" cy="12191365"/>
  <p:embeddedFontLst>
    <p:embeddedFont>
      <p:font typeface="Tinos Bold" panose="02020803070505020304" pitchFamily="34" charset="0"/>
      <p:bold r:id="rId21"/>
    </p:embeddedFont>
    <p:embeddedFont>
      <p:font typeface="Tinos Bold" panose="02020803070505020304" pitchFamily="34" charset="-122"/>
      <p:bold r:id="rId22"/>
    </p:embeddedFont>
    <p:embeddedFont>
      <p:font typeface="Tinos Bold" panose="02020803070505020304" pitchFamily="34" charset="-120"/>
      <p:bold r:id="rId23"/>
    </p:embeddedFont>
    <p:embeddedFont>
      <p:font typeface="Tinos" panose="02020603050405020304" pitchFamily="34" charset="0"/>
      <p:regular r:id="rId24"/>
    </p:embeddedFont>
    <p:embeddedFont>
      <p:font typeface="Tinos" panose="02020603050405020304" pitchFamily="34" charset="-122"/>
      <p:regular r:id="rId25"/>
    </p:embeddedFont>
    <p:embeddedFont>
      <p:font typeface="Tinos" panose="02020603050405020304" pitchFamily="34" charset="-120"/>
      <p:regular r:id="rId26"/>
    </p:embeddedFont>
    <p:embeddedFont>
      <p:font typeface="Calibri" panose="020F0502020204030204" charset="0"/>
      <p:regular r:id="rId27"/>
      <p:bold r:id="rId28"/>
      <p:italic r:id="rId29"/>
      <p:boldItalic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font" Target="fonts/font10.fntdata"/><Relationship Id="rId3" Type="http://schemas.openxmlformats.org/officeDocument/2006/relationships/slide" Target="slides/slide1.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25 giây. Người thuyết trình 1.LỜI DẪN GỢI ÝChào lớp và giới thiệu đề tài. Giới thiệu trọng tâm vận dụng vào đời sống sinh viên. Bài nói gồm cơ sở lý luận, kinh tế, khoa học kỹ thuật, văn hóa và thói quen hằng ngày.VÍ DỤ THỰC TẾAI đưa ra một đáp án trông thuyết phục nhưng dẫn nguồn không tồn tại.THIẾT KẾ VÀ HIỆU ỨNGBố cục: Hình ảnh và tiêu đề.Hình minh họa: Minh họa sách, máy tính, hội thoại bằng hình vẽ.Biểu đồ/sơ đồ: Không cần biểu đồ số liệu.Icon: Sách, laptop, hội thoại.Hiệu ứng đề xuất: chuyển trang Fade 0,4 giây, xuất hiện lần lượt theo nhịp nói. Các đề xuất xuất hiện theo nhịp nói chưa cài thành animation.NGUỒN VÀ PHẠM VIĐề tài và các ảnh hướng dẫn trình tự do người dùng cung cấp.Các tình huống sinh viên là ví dụ vận dụng hiện nay, không phải lời nói nguyên văn của Hồ Chí Minh.Nguồn ảnh: https://medium.com/@tylercurtis42/6-things-you-didnt-know-about-ho-chi-minh-67fd4c5a1a23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 giây. Người thuyết trình 1.LỜI DẪN GỢI ÝMục tiêu chung là độc lập cho dân tộc, tự do và hạnh phúc cho nhân dân. Phát triển kinh tế và văn hóa cùng hướng tới cải thiện đời sống. Không đọc từng chữ, nhấn vào nhân dân là người hưởng lợi.VÍ DỤ THỰC TẾMột phòng học có thiết bị tốt và môi trường tôn trọng nhau giúp cải thiện cả điều kiện học tập lẫn đời sống tinh thần.THIẾT KẾ VÀ HIỆU ỨNGBố cục: Sơ đồ trung tâm.Hình minh họa: Các biểu tượng con người, nhà ở, sách nếu bổ sung.Biểu đồ/sơ đồ: Sơ đồ ba mặt của mục tiêu chung.Icon: Con người.Hiệu ứng đề xuất: chuyển trang Fade 0,4 giây, xuất hiện lần lượt theo nhịp nói. Các đề xuất xuất hiện theo nhịp nói chưa cài thành animation.NGUỒN VÀ PHẠM VIphần1.docx, mục Mục tiêu chung. Tài liệu này dẫn trang 22 giáo trình, chưa đối chiếu bản giáo trình gốc trong bộ tệp hiện tại.Các tình huống sinh viên là ví dụ vận dụng hiện nay, không phải lời nói nguyên văn của Hồ Chí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 giây. Người thuyết trình 1.LỜI DẪN GỢI ÝGiới thiệu ngắn bốn mục tiêu. Khoa học kỹ thuật gắn với phát triển nền kinh tế hiện đại, không tách khỏi mục tiêu vì con người. Bài nói đi sâu vào kinh tế, khoa học kỹ thuật và văn hóa theo yêu cầu đề tài.VÍ DỤ THỰC TẾSinh viên có kiến thức chuyên môn nhưng cũng cần trung thực và có trách nhiệm khi làm việc nhóm.THIẾT KẾ VÀ HIỆU ỨNGBố cục: Mindmap bốn nhánh.Hình minh họa: Minh họa nhà nước, sản xuất, sách, người học nếu bổ sung.Biểu đồ/sơ đồ: Sơ đồ quan hệ bốn mục tiêu.Icon: Con người và sách.Hiệu ứng đề xuất: chuyển trang Fade 0,4 giây, xuất hiện lần lượt theo nhịp nói. Các đề xuất xuất hiện theo nhịp nói chưa cài thành animation.NGUỒN VÀ PHẠM VIphần1.docx, mục Các mục tiêu cụ thể.Các tình huống sinh viên là ví dụ vận dụng hiện nay, không phải lời nói nguyên văn của Hồ Chí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 giây. Người thuyết trình 1.LỜI DẪN GỢI ÝNêu mục tiêu xây dựng nền kinh tế vững mạnh, có sản xuất hiện đại. Giải thích rằng năng suất chỉ có ý nghĩa khi phục vụ đời sống. Lược bỏ diễn giải tuyệt đối về xóa bỏ mọi tư hữu trong tài liệu nhóm vì quá rộng và không cần cho trọng tâm bài.VÍ DỤ THỰC TẾMột công cụ quản lý lịch làm việc giúp tập thể giảm bỏ sót và sử dụng thời gian hiệu quả.THIẾT KẾ VÀ HIỆU ỨNGBố cục: Sơ đồ quan hệ.Hình minh họa: Sơ đồ sản xuất bằng hình khối.Biểu đồ/sơ đồ: Sơ đồ khái niệm, không dùng số liệu tăng trưởng giả định.Icon: Bánh răng, con người.Hiệu ứng đề xuất: chuyển trang Fade 0,4 giây, xuất hiện lần lượt theo nhịp nói. Các đề xuất xuất hiện theo nhịp nói chưa cài thành animation.NGUỒN VÀ PHẠM VIPhần2.docx, phần I và phần II, đối chiếu cách tóm tắt ở phần1.docx.Các tình huống sinh viên là ví dụ vận dụng hiện nay, không phải lời nói nguyên văn của Hồ Chí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45 giây. Người thuyết trình 1.LỜI DẪN GỢI ÝLiên hệ hai nhóm thói quen gần gũi. Kỷ luật thời gian và năng lực chuyên môn chuẩn bị nguồn nhân lực, tiết kiệm giúp sử dụng tốt nguồn lực chung. Kết thúc: hiệu quả lao động còn cần làm chủ khoa học kỹ thuật, mời người thứ hai tiếp nối.VÍ DỤ THỰC TẾNhóm phân công bằng bảng tính có người phụ trách và thời hạn. Sinh viên kiểm tra thiết bị phòng học trước khi rời lớp.THIẾT KẾ VÀ HIỆU ỨNGBố cục: Infographic bốn hành động.Hình minh họa: Icon lịch và checklist đang dùng trong deck.Biểu đồ/sơ đồ: Không cần biểu đồ số liệu, có thể dùng checklist.Icon: Lịch, kiểm tra.Hiệu ứng đề xuất: chuyển trang Fade 0,4 giây, xuất hiện lần lượt theo nhịp nói. Các đề xuất xuất hiện theo nhịp nói chưa cài thành animation.NGUỒN VÀ PHẠM VIPhần2.docx, phần II và III.Các tình huống sinh viên là ví dụ vận dụng hiện nay, không phải lời nói nguyên văn của Hồ Chí Minh.Icon: Lucide, https://lucide.dev/ (ISC).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2. THỜI LƯỢNG: 55 giây.
LỜI DẪN
Tiếp nối phần kinh tế: để tăng năng suất và hiện đại hóa nền kinh tế cần khoa học – kỹ thuật. Nhấn mạnh mục tiêu phục vụ sản xuất và con người. Học đi đôi với hành thể hiện ở việc hiểu nguyên lý, làm thử và kiểm tra kết quả. Với sinh viên Điện tử viễn thông, có thể minh họa bằng thiết kế mạch hoặc lập trình vi điều khiển. Dẫn sang AI như một công cụ công nghệ hiện nay.
NGUỒN
Tổng hợp và sắp xếp lại từ file người dùng cung cấp: Tu-tuong-Ho-Chi-Minh-Phan-II-tiep-noi (1).pptx, các slide 6, 15, 16, 20. Các ví dụ AI, phản biện và văn hóa mạng là liên hệ hiện nay, không phải trích dẫn nguyên văn của Hồ Chí Minh.
BỐ CỤC
Nội dung trên slide theo mạch lý luận, liên hệ và hành động. Không có mini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2. THỜI LƯỢNG: 55 giây.
LỜI DẪN
AI có thể giải thích kiến thức, gợi ý hướng giải và hỗ trợ lập trình. Tuy nhiên, ba trách nhiệm luôn thuộc về người học: tự tư duy, kiểm chứng và minh bạch, bảo vệ dữ liệu. Ví dụ: khi AI gợi ý mã nguồn, sinh viên cần hiểu cách hoạt động và tự chạy thử. Đừng đồng nhất việc dùng AI với việc nộp lại nguyên câu trả lời của công cụ.
NGUỒN
Tổng hợp và sắp xếp lại từ file người dùng cung cấp: Tu-tuong-Ho-Chi-Minh-Phan-II-tiep-noi (1).pptx, các slide 7, 17, 18. Các ví dụ AI, phản biện và văn hóa mạng là liên hệ hiện nay, không phải trích dẫn nguyên văn của Hồ Chí Minh.
BỐ CỤC
Nội dung trên slide theo mạch lý luận, liên hệ và hành động. Không có mini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2. THỜI LƯỢNG: 50 giây.
LỜI DẪN
Trình bày quy trình bằng một ví dụ thống nhất. Bài thiết kế mạch: tự xác định yêu cầu, nhờ AI gợi ý hoặc phản biện, mô phỏng và đo kiểm, rồi hoàn thiện báo cáo. Với tiểu luận, bước kiểm chứng là tìm tài liệu gốc trước khi trích dẫn. Chuyển ý: dùng công nghệ hiệu quả còn cần năng lực chọn lọc thông tin và chuẩn mực văn hóa.
NGUỒN
Tổng hợp và sắp xếp lại từ file người dùng cung cấp: Tu-tuong-Ho-Chi-Minh-Phan-II-tiep-noi (1).pptx, các slide 8, 16, 18. Các ví dụ AI, phản biện và văn hóa mạng là liên hệ hiện nay, không phải trích dẫn nguyên văn của Hồ Chí Minh.
BỐ CỤC
Nội dung trên slide theo mạch lý luận, liên hệ và hành động. Không có mini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2. THỜI LƯỢNG: 50 giây.
LỜI DẪN
Nêu mục tiêu văn hóa và giải thích ba tính chất. Dân tộc là giữ bản sắc đồng thời tiếp thu tinh hoa. Khoa học là coi trọng sự thật và tri thức. Đại chúng là phục vụ nhân dân và nhân dân cùng xây dựng. Từ tính khoa học dẫn tới tư duy phản biện, từ xây dựng nếp sống dẫn tới ứng xử trên không gian mạng.
NGUỒN
Tổng hợp và sắp xếp lại từ file người dùng cung cấp: Tu-tuong-Ho-Chi-Minh-Phan-II-tiep-noi (1).pptx, slide 9 và các ý văn hóa trong slide 3. Các ví dụ AI, phản biện và văn hóa mạng là liên hệ hiện nay, không phải trích dẫn nguyên văn của Hồ Chí Minh.
BỐ CỤC
Nội dung trên slide theo mạch lý luận, liên hệ và hành động. Không có mini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2. THỜI LƯỢNG: 50 giây.
LỜI DẪN
Giải thích tư duy phản biện qua ba thao tác. Có thể đọc câu mẫu: “Mình nghĩ khác ở điểm này, vì tài liệu cho thấy…”. Nhấn mạnh phản biện có thiện chí, không công kích cá nhân. Tư duy này áp dụng cho bài học, câu trả lời AI và thông tin mạng xã hội.
NGUỒN
Tổng hợp và sắp xếp lại từ file người dùng cung cấp: Tu-tuong-Ho-Chi-Minh-Phan-II-tiep-noi (1).pptx, các slide 10, 19, 20. Các ví dụ AI, phản biện và văn hóa mạng là liên hệ hiện nay, không phải trích dẫn nguyên văn của Hồ Chí Minh.
BỐ CỤC
Nội dung trên slide theo mạch lý luận, liên hệ và hành động. Không có mini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2. THỜI LƯỢNG: 50 giây.
LỜI DẪN
Giải thích hành vi cụ thể của ứng xử văn minh: lịch sự, tôn trọng quyền tác giả và bảo vệ dữ liệu. Dùng ví dụ tin đồn nghỉ học để nối tư duy kiểm chứng với trách nhiệm chia sẻ. Đây là ví dụ minh họa, không đặt câu hỏi chọn đáp án hay tổ chức mini game.
NGUỒN
Tổng hợp và sắp xếp lại từ file người dùng cung cấp: Tu-tuong-Ho-Chi-Minh-Phan-II-tiep-noi (1).pptx, các slide 11, 21, 22. Các ví dụ AI, phản biện và văn hóa mạng là liên hệ hiện nay, không phải trích dẫn nguyên văn của Hồ Chí Minh.
BỐ CỤC
Nội dung trên slide theo mạch lý luận, liên hệ và hành động. Không có mini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2. THỜI LƯỢNG: 50 giây.
LỜI DẪN
Tổng hợp cả hai phần thuyết trình. Kinh tế gắn với kỷ luật và tiết kiệm. Khoa học kỹ thuật gắn với thực hành. AI gắn với tư duy và kiểm chứng. Văn hóa gắn với sự thật, cách ứng xử và trách nhiệm cộng đồng. Gợi ý sinh viên chọn việc cụ thể để thực hiện mỗi ngày, rồi tự ghi nhận kết quả.
NGUỒN
Tổng hợp và sắp xếp lại từ file người dùng cung cấp: Tu-tuong-Ho-Chi-Minh-Phan-II-tiep-noi (1).pptx, các slide 12, 15, 20, 22, 23. Các ví dụ AI, phản biện và văn hóa mạng là liên hệ hiện nay, không phải trích dẫn nguyên văn của Hồ Chí Minh.
BỐ CỤC
Nội dung trên slide theo mạch lý luận, liên hệ và hành động. Không có mini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THUYẾT TRÌNH 2. THỜI LƯỢNG: 35 giây.
LỜI DẪN
Kết luận toàn bài. Tư tưởng về mục tiêu xây dựng CNXH được vận dụng qua năng lực học tập, việc làm chủ công nghệ và trách nhiệm văn hóa của sinh viên. Chốt thông điệp thói quen nhỏ hôm nay góp phần tạo nên năng lực ngày mai. Cảm ơn thầy cô và các bạn.
NGUỒN
Tổng hợp và sắp xếp lại từ file người dùng cung cấp: Tu-tuong-Ho-Chi-Minh-Phan-II-tiep-noi (1).pptx, các slide 13, 14, 22, 23. Các ví dụ AI, phản biện và văn hóa mạng là liên hệ hiện nay, không phải trích dẫn nguyên văn của Hồ Chí Minh.
BỐ CỤC
Nội dung trên slide theo mạch lý luận, liên hệ và hành động. Không có mini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7F3EB"/>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91091" y="0"/>
            <a:ext cx="2038299" cy="6885384"/>
          </a:xfrm>
          <a:prstGeom prst="rect">
            <a:avLst/>
          </a:prstGeom>
        </p:spPr>
      </p:pic>
      <p:sp>
        <p:nvSpPr>
          <p:cNvPr id="3" name="Text 0"/>
          <p:cNvSpPr/>
          <p:nvPr/>
        </p:nvSpPr>
        <p:spPr>
          <a:xfrm>
            <a:off x="767041" y="338038"/>
            <a:ext cx="3276518" cy="365720"/>
          </a:xfrm>
          <a:prstGeom prst="rect">
            <a:avLst/>
          </a:prstGeom>
          <a:noFill/>
        </p:spPr>
        <p:txBody>
          <a:bodyPr wrap="none" lIns="0" tIns="0" rIns="0" bIns="0" rtlCol="0" anchor="t"/>
          <a:lstStyle/>
          <a:p>
            <a:pPr marL="0" indent="0" algn="l">
              <a:lnSpc>
                <a:spcPct val="100000"/>
              </a:lnSpc>
              <a:buNone/>
            </a:pPr>
            <a:r>
              <a:rPr lang="en-US" sz="240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NHÓM 6</a:t>
            </a:r>
            <a:endParaRPr lang="en-US" sz="2400" dirty="0"/>
          </a:p>
        </p:txBody>
      </p:sp>
      <p:sp>
        <p:nvSpPr>
          <p:cNvPr id="4" name="Shape 1"/>
          <p:cNvSpPr/>
          <p:nvPr/>
        </p:nvSpPr>
        <p:spPr>
          <a:xfrm>
            <a:off x="0" y="0"/>
            <a:ext cx="142871" cy="6858099"/>
          </a:xfrm>
          <a:prstGeom prst="rect">
            <a:avLst/>
          </a:prstGeom>
          <a:solidFill>
            <a:srgbClr val="8D292E"/>
          </a:solidFill>
        </p:spPr>
      </p:sp>
      <p:sp>
        <p:nvSpPr>
          <p:cNvPr id="5" name="Text 2"/>
          <p:cNvSpPr/>
          <p:nvPr/>
        </p:nvSpPr>
        <p:spPr>
          <a:xfrm>
            <a:off x="1127097" y="1089819"/>
            <a:ext cx="6243779" cy="975320"/>
          </a:xfrm>
          <a:prstGeom prst="rect">
            <a:avLst/>
          </a:prstGeom>
          <a:noFill/>
        </p:spPr>
        <p:txBody>
          <a:bodyPr wrap="square" lIns="0" tIns="0" rIns="0" bIns="0" rtlCol="0" anchor="t">
            <a:normAutofit/>
          </a:bodyPr>
          <a:lstStyle/>
          <a:p>
            <a:pPr marL="0" indent="0" algn="l">
              <a:lnSpc>
                <a:spcPct val="100000"/>
              </a:lnSpc>
              <a:buNone/>
            </a:pPr>
            <a:r>
              <a:rPr lang="en-US" sz="3200" b="1" i="1" dirty="0">
                <a:solidFill>
                  <a:srgbClr val="222B2A"/>
                </a:solidFill>
                <a:latin typeface="Tinos Bold" panose="02020803070505020304" pitchFamily="34" charset="0"/>
                <a:ea typeface="Tinos Bold" panose="02020803070505020304" pitchFamily="34" charset="-122"/>
                <a:cs typeface="Tinos Bold" panose="02020803070505020304" pitchFamily="34" charset="-120"/>
              </a:rPr>
              <a:t>Tư tưởng Hồ Chí Minh về mục tiêu xây dựng CNXH ở Việt Nam</a:t>
            </a:r>
            <a:endParaRPr lang="en-US" sz="3200" dirty="0"/>
          </a:p>
        </p:txBody>
      </p:sp>
      <p:sp>
        <p:nvSpPr>
          <p:cNvPr id="6" name="Shape 3"/>
          <p:cNvSpPr/>
          <p:nvPr/>
        </p:nvSpPr>
        <p:spPr>
          <a:xfrm>
            <a:off x="619110" y="6429474"/>
            <a:ext cx="10953476" cy="19050"/>
          </a:xfrm>
          <a:prstGeom prst="rect">
            <a:avLst/>
          </a:prstGeom>
          <a:solidFill>
            <a:srgbClr val="DED6CA"/>
          </a:solidFill>
        </p:spPr>
      </p:sp>
      <p:sp>
        <p:nvSpPr>
          <p:cNvPr id="7" name="Text 4"/>
          <p:cNvSpPr/>
          <p:nvPr/>
        </p:nvSpPr>
        <p:spPr>
          <a:xfrm>
            <a:off x="619110" y="6501705"/>
            <a:ext cx="11448764" cy="161925"/>
          </a:xfrm>
          <a:prstGeom prst="rect">
            <a:avLst/>
          </a:prstGeom>
          <a:noFill/>
        </p:spPr>
        <p:txBody>
          <a:bodyPr wrap="none" lIns="0" tIns="0" rIns="0" bIns="0" rtlCol="0" anchor="t"/>
          <a:lstStyle/>
          <a:p>
            <a:pPr marL="0" indent="0" algn="l">
              <a:lnSpc>
                <a:spcPct val="125000"/>
              </a:lnSpc>
              <a:buNone/>
            </a:pPr>
            <a:r>
              <a:rPr lang="en-US" sz="850" dirty="0">
                <a:solidFill>
                  <a:srgbClr val="66706A"/>
                </a:solidFill>
                <a:latin typeface="Tinos" panose="02020603050405020304" pitchFamily="34" charset="0"/>
                <a:ea typeface="Tinos" panose="02020603050405020304" pitchFamily="34" charset="-122"/>
                <a:cs typeface="Tinos" panose="02020603050405020304" pitchFamily="34" charset="-120"/>
              </a:rPr>
              <a:t>TƯ TƯỞNG HỒ CHÍ MINH · VẬN DỤNG TRONG ĐỜI SỐNG SINH VIÊN</a:t>
            </a:r>
            <a:endParaRPr lang="en-US" sz="850" dirty="0"/>
          </a:p>
        </p:txBody>
      </p:sp>
      <p:sp>
        <p:nvSpPr>
          <p:cNvPr id="8" name="Text 5"/>
          <p:cNvSpPr/>
          <p:nvPr/>
        </p:nvSpPr>
        <p:spPr>
          <a:xfrm>
            <a:off x="11048724" y="6474321"/>
            <a:ext cx="1142971" cy="219075"/>
          </a:xfrm>
          <a:prstGeom prst="rect">
            <a:avLst/>
          </a:prstGeom>
          <a:noFill/>
        </p:spPr>
        <p:txBody>
          <a:bodyPr wrap="none" lIns="0" tIns="0" rIns="0" bIns="0" rtlCol="0" anchor="t"/>
          <a:lstStyle/>
          <a:p>
            <a:pPr marL="0" indent="0" algn="l">
              <a:lnSpc>
                <a:spcPct val="125000"/>
              </a:lnSpc>
              <a:buNone/>
            </a:pPr>
            <a:r>
              <a:rPr lang="en-US" sz="11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01</a:t>
            </a:r>
            <a:endParaRPr lang="en-US" sz="1150" dirty="0"/>
          </a:p>
        </p:txBody>
      </p:sp>
      <p:pic>
        <p:nvPicPr>
          <p:cNvPr id="9" name="Image 1" descr="preencoded.png"/>
          <p:cNvPicPr>
            <a:picLocks noChangeAspect="1"/>
          </p:cNvPicPr>
          <p:nvPr/>
        </p:nvPicPr>
        <p:blipFill>
          <a:blip r:embed="rId2"/>
          <a:stretch>
            <a:fillRect/>
          </a:stretch>
        </p:blipFill>
        <p:spPr>
          <a:xfrm>
            <a:off x="8112760" y="505460"/>
            <a:ext cx="3833495" cy="5397500"/>
          </a:xfrm>
          <a:prstGeom prst="rect">
            <a:avLst/>
          </a:prstGeom>
        </p:spPr>
      </p:pic>
      <p:sp>
        <p:nvSpPr>
          <p:cNvPr id="10" name="Text 6"/>
          <p:cNvSpPr/>
          <p:nvPr/>
        </p:nvSpPr>
        <p:spPr>
          <a:xfrm>
            <a:off x="1725231" y="3950434"/>
            <a:ext cx="5731823" cy="304800"/>
          </a:xfrm>
          <a:prstGeom prst="rect">
            <a:avLst/>
          </a:prstGeom>
          <a:noFill/>
        </p:spPr>
        <p:txBody>
          <a:bodyPr wrap="none" lIns="0" tIns="0" rIns="0" bIns="0" rtlCol="0" anchor="t"/>
          <a:lstStyle/>
          <a:p>
            <a:pPr marL="0" indent="0" algn="l">
              <a:lnSpc>
                <a:spcPct val="100000"/>
              </a:lnSpc>
              <a:buNone/>
            </a:pPr>
            <a:r>
              <a:rPr lang="en-US" sz="200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Thành viên nhóm: </a:t>
            </a:r>
            <a:endParaRPr lang="en-US" sz="2000" dirty="0"/>
          </a:p>
        </p:txBody>
      </p:sp>
      <p:sp>
        <p:nvSpPr>
          <p:cNvPr id="11" name="Text 7"/>
          <p:cNvSpPr/>
          <p:nvPr/>
        </p:nvSpPr>
        <p:spPr>
          <a:xfrm>
            <a:off x="3859530" y="3890645"/>
            <a:ext cx="4763770" cy="2668905"/>
          </a:xfrm>
          <a:prstGeom prst="rect">
            <a:avLst/>
          </a:prstGeom>
          <a:noFill/>
        </p:spPr>
        <p:txBody>
          <a:bodyPr wrap="square" lIns="0" tIns="0" rIns="0" bIns="0" rtlCol="0" anchor="t">
            <a:normAutofit lnSpcReduction="20000"/>
          </a:bodyPr>
          <a:lstStyle/>
          <a:p>
            <a:pPr marL="0" indent="0" algn="l">
              <a:lnSpc>
                <a:spcPct val="150000"/>
              </a:lnSpc>
              <a:buNone/>
            </a:pPr>
            <a:r>
              <a:rPr lang="en-US" sz="2000" dirty="0">
                <a:solidFill>
                  <a:srgbClr val="000000"/>
                </a:solidFill>
                <a:latin typeface="Tinos" panose="02020603050405020304" pitchFamily="34" charset="0"/>
                <a:ea typeface="Tinos" panose="02020603050405020304" pitchFamily="34" charset="-122"/>
                <a:cs typeface="Tinos" panose="02020603050405020304" pitchFamily="34" charset="-120"/>
              </a:rPr>
              <a:t>Đặng Phương Nam	-2451261033</a:t>
            </a:r>
            <a:endParaRPr lang="en-US" sz="2000" dirty="0"/>
          </a:p>
          <a:p>
            <a:pPr marL="0" indent="0" algn="l">
              <a:lnSpc>
                <a:spcPct val="150000"/>
              </a:lnSpc>
              <a:buNone/>
            </a:pPr>
            <a:r>
              <a:rPr lang="en-US" sz="2000" dirty="0">
                <a:solidFill>
                  <a:srgbClr val="000000"/>
                </a:solidFill>
                <a:latin typeface="Tinos" panose="02020603050405020304" pitchFamily="34" charset="0"/>
                <a:ea typeface="Tinos" panose="02020603050405020304" pitchFamily="34" charset="-122"/>
                <a:cs typeface="Tinos" panose="02020603050405020304" pitchFamily="34" charset="-120"/>
              </a:rPr>
              <a:t>Nguyễn Hải Ninh		-</a:t>
            </a:r>
            <a:r>
              <a:rPr lang="en-US" altLang="en-US" sz="2000" dirty="0">
                <a:solidFill>
                  <a:srgbClr val="000000"/>
                </a:solidFill>
                <a:latin typeface="Tinos" panose="02020603050405020304" pitchFamily="34" charset="0"/>
                <a:ea typeface="Tinos" panose="02020603050405020304" pitchFamily="34" charset="-122"/>
                <a:cs typeface="Tinos" panose="02020603050405020304" pitchFamily="34" charset="-120"/>
              </a:rPr>
              <a:t>2351170609</a:t>
            </a:r>
            <a:endParaRPr lang="en-US" altLang="en-US" sz="2000" dirty="0">
              <a:solidFill>
                <a:srgbClr val="000000"/>
              </a:solidFill>
              <a:latin typeface="Tinos" panose="02020603050405020304" pitchFamily="34" charset="0"/>
              <a:ea typeface="Tinos" panose="02020603050405020304" pitchFamily="34" charset="-122"/>
              <a:cs typeface="Tinos" panose="02020603050405020304" pitchFamily="34" charset="-120"/>
            </a:endParaRPr>
          </a:p>
          <a:p>
            <a:pPr marL="0" indent="0" algn="l">
              <a:lnSpc>
                <a:spcPct val="150000"/>
              </a:lnSpc>
              <a:buNone/>
            </a:pPr>
            <a:r>
              <a:rPr lang="en-US" sz="2000" dirty="0">
                <a:solidFill>
                  <a:srgbClr val="000000"/>
                </a:solidFill>
                <a:latin typeface="Tinos" panose="02020603050405020304" pitchFamily="34" charset="0"/>
                <a:ea typeface="Tinos" panose="02020603050405020304" pitchFamily="34" charset="-122"/>
                <a:cs typeface="Tinos" panose="02020603050405020304" pitchFamily="34" charset="-120"/>
              </a:rPr>
              <a:t>Nguyễn Minh Phú	-</a:t>
            </a:r>
            <a:r>
              <a:rPr lang="en-US" altLang="en-US" sz="2000" dirty="0">
                <a:solidFill>
                  <a:srgbClr val="000000"/>
                </a:solidFill>
                <a:latin typeface="Tinos" panose="02020603050405020304" pitchFamily="34" charset="0"/>
                <a:ea typeface="Tinos" panose="02020603050405020304" pitchFamily="34" charset="-122"/>
                <a:cs typeface="Tinos" panose="02020603050405020304" pitchFamily="34" charset="-120"/>
              </a:rPr>
              <a:t>2351160540</a:t>
            </a:r>
            <a:endParaRPr lang="en-US" altLang="en-US" sz="2000" dirty="0">
              <a:solidFill>
                <a:srgbClr val="000000"/>
              </a:solidFill>
              <a:latin typeface="Tinos" panose="02020603050405020304" pitchFamily="34" charset="0"/>
              <a:ea typeface="Tinos" panose="02020603050405020304" pitchFamily="34" charset="-122"/>
              <a:cs typeface="Tinos" panose="02020603050405020304" pitchFamily="34" charset="-120"/>
            </a:endParaRPr>
          </a:p>
          <a:p>
            <a:pPr marL="0" indent="0" algn="l">
              <a:lnSpc>
                <a:spcPct val="150000"/>
              </a:lnSpc>
              <a:buNone/>
            </a:pPr>
            <a:r>
              <a:rPr lang="en-US" sz="2000" dirty="0">
                <a:solidFill>
                  <a:srgbClr val="000000"/>
                </a:solidFill>
                <a:latin typeface="Tinos" panose="02020603050405020304" pitchFamily="34" charset="0"/>
                <a:ea typeface="Tinos" panose="02020603050405020304" pitchFamily="34" charset="-122"/>
                <a:cs typeface="Tinos" panose="02020603050405020304" pitchFamily="34" charset="-120"/>
              </a:rPr>
              <a:t>Nguyễn Thế Nguyên	-2</a:t>
            </a:r>
            <a:r>
              <a:rPr lang="en-US" altLang="en-US" sz="2000" dirty="0">
                <a:solidFill>
                  <a:srgbClr val="000000"/>
                </a:solidFill>
                <a:latin typeface="Tinos" panose="02020603050405020304" pitchFamily="34" charset="0"/>
                <a:ea typeface="Tinos" panose="02020603050405020304" pitchFamily="34" charset="-122"/>
                <a:cs typeface="Tinos" panose="02020603050405020304" pitchFamily="34" charset="-120"/>
              </a:rPr>
              <a:t>351160539</a:t>
            </a:r>
            <a:endParaRPr lang="en-US" altLang="en-US" sz="2000" dirty="0">
              <a:solidFill>
                <a:srgbClr val="000000"/>
              </a:solidFill>
              <a:latin typeface="Tinos" panose="02020603050405020304" pitchFamily="34" charset="0"/>
              <a:ea typeface="Tinos" panose="02020603050405020304" pitchFamily="34" charset="-122"/>
              <a:cs typeface="Tinos" panose="02020603050405020304" pitchFamily="34" charset="-120"/>
            </a:endParaRPr>
          </a:p>
          <a:p>
            <a:pPr marL="0" indent="0" algn="l">
              <a:lnSpc>
                <a:spcPct val="150000"/>
              </a:lnSpc>
              <a:buNone/>
            </a:pPr>
            <a:r>
              <a:rPr lang="en-US" sz="2000" dirty="0">
                <a:solidFill>
                  <a:srgbClr val="000000"/>
                </a:solidFill>
                <a:latin typeface="Tinos" panose="02020603050405020304" pitchFamily="34" charset="0"/>
                <a:ea typeface="Tinos" panose="02020603050405020304" pitchFamily="34" charset="-122"/>
                <a:cs typeface="Tinos" panose="02020603050405020304" pitchFamily="34" charset="-120"/>
              </a:rPr>
              <a:t>Nguyễn Gia Phúc		-2451261033</a:t>
            </a:r>
            <a:endParaRPr lang="en-US" sz="2000" dirty="0"/>
          </a:p>
          <a:p>
            <a:pPr marL="0" indent="0" algn="l">
              <a:lnSpc>
                <a:spcPct val="150000"/>
              </a:lnSpc>
              <a:buNone/>
            </a:pPr>
            <a:r>
              <a:rPr lang="en-US" sz="2000" dirty="0">
                <a:solidFill>
                  <a:srgbClr val="000000"/>
                </a:solidFill>
                <a:latin typeface="Tinos" panose="02020603050405020304" pitchFamily="34" charset="0"/>
                <a:ea typeface="Tinos" panose="02020603050405020304" pitchFamily="34" charset="-122"/>
                <a:cs typeface="Tinos" panose="02020603050405020304" pitchFamily="34" charset="-120"/>
              </a:rPr>
              <a:t>Nguyễn Đức Phát		-</a:t>
            </a:r>
            <a:r>
              <a:rPr lang="en-US" altLang="en-US" sz="2000" dirty="0">
                <a:solidFill>
                  <a:srgbClr val="000000"/>
                </a:solidFill>
                <a:latin typeface="Tinos" panose="02020603050405020304" pitchFamily="34" charset="0"/>
                <a:ea typeface="Tinos" panose="02020603050405020304" pitchFamily="34" charset="-122"/>
                <a:cs typeface="Tinos" panose="02020603050405020304" pitchFamily="34" charset="-120"/>
              </a:rPr>
              <a:t>2451242593</a:t>
            </a:r>
            <a:endParaRPr lang="en-US" altLang="en-US" sz="2000" dirty="0">
              <a:solidFill>
                <a:srgbClr val="000000"/>
              </a:solidFill>
              <a:latin typeface="Tinos" panose="02020603050405020304" pitchFamily="34" charset="0"/>
              <a:ea typeface="Tinos" panose="02020603050405020304" pitchFamily="34" charset="-122"/>
              <a:cs typeface="Tinos" panose="02020603050405020304" pitchFamily="34" charset="-120"/>
            </a:endParaRPr>
          </a:p>
        </p:txBody>
      </p:sp>
      <p:sp>
        <p:nvSpPr>
          <p:cNvPr id="12" name="Shape 8"/>
          <p:cNvSpPr/>
          <p:nvPr/>
        </p:nvSpPr>
        <p:spPr>
          <a:xfrm>
            <a:off x="839270" y="2588200"/>
            <a:ext cx="6416514" cy="1047750"/>
          </a:xfrm>
          <a:prstGeom prst="rect">
            <a:avLst/>
          </a:prstGeom>
          <a:solidFill>
            <a:srgbClr val="8D292E"/>
          </a:solidFill>
        </p:spPr>
      </p:sp>
      <p:sp>
        <p:nvSpPr>
          <p:cNvPr id="13" name="Text 9"/>
          <p:cNvSpPr/>
          <p:nvPr/>
        </p:nvSpPr>
        <p:spPr>
          <a:xfrm>
            <a:off x="983615" y="2734310"/>
            <a:ext cx="6244590" cy="1005840"/>
          </a:xfrm>
          <a:prstGeom prst="rect">
            <a:avLst/>
          </a:prstGeom>
          <a:noFill/>
        </p:spPr>
        <p:txBody>
          <a:bodyPr wrap="square" lIns="0" tIns="0" rIns="0" bIns="0" rtlCol="0" anchor="t">
            <a:normAutofit/>
          </a:bodyPr>
          <a:lstStyle/>
          <a:p>
            <a:pPr marL="0" indent="0" algn="l">
              <a:lnSpc>
                <a:spcPct val="100000"/>
              </a:lnSpc>
              <a:buNone/>
            </a:pPr>
            <a:r>
              <a:rPr lang="en-US" sz="22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Cụ thể hóa các mục tiêu kinh tế, khoa học kĩ thuật và văn hóa thành thói quen hằng ngày của sinh viên</a:t>
            </a:r>
            <a:endParaRPr lang="en-US" sz="2200" dirty="0"/>
          </a:p>
        </p:txBody>
      </p:sp>
      <p:pic>
        <p:nvPicPr>
          <p:cNvPr id="14" name="Image 2" descr="preencoded.png"/>
          <p:cNvPicPr>
            <a:picLocks noChangeAspect="1"/>
          </p:cNvPicPr>
          <p:nvPr/>
        </p:nvPicPr>
        <p:blipFill>
          <a:blip r:embed="rId3"/>
          <a:stretch>
            <a:fillRect/>
          </a:stretch>
        </p:blipFill>
        <p:spPr>
          <a:xfrm>
            <a:off x="11077000" y="6559252"/>
            <a:ext cx="1071833" cy="2559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2871" cy="6858099"/>
          </a:xfrm>
          <a:prstGeom prst="rect">
            <a:avLst/>
          </a:prstGeom>
          <a:solidFill>
            <a:srgbClr val="8D292E"/>
          </a:solidFill>
        </p:spPr>
      </p:sp>
      <p:sp>
        <p:nvSpPr>
          <p:cNvPr id="3" name="Text 1"/>
          <p:cNvSpPr/>
          <p:nvPr/>
        </p:nvSpPr>
        <p:spPr>
          <a:xfrm>
            <a:off x="619110" y="249238"/>
            <a:ext cx="11448764" cy="247650"/>
          </a:xfrm>
          <a:prstGeom prst="rect">
            <a:avLst/>
          </a:prstGeom>
          <a:noFill/>
        </p:spPr>
        <p:txBody>
          <a:bodyPr wrap="none" lIns="0" tIns="0" rIns="0" bIns="0" rtlCol="0" anchor="t"/>
          <a:lstStyle/>
          <a:p>
            <a:pPr marL="0" indent="0" algn="l">
              <a:lnSpc>
                <a:spcPct val="125000"/>
              </a:lnSpc>
              <a:buNone/>
            </a:pPr>
            <a:r>
              <a:rPr lang="en-US" sz="130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01 · CƠ SỞ LÝ LUẬN</a:t>
            </a:r>
            <a:endParaRPr lang="en-US" sz="1300" dirty="0"/>
          </a:p>
        </p:txBody>
      </p:sp>
      <p:sp>
        <p:nvSpPr>
          <p:cNvPr id="4" name="Text 2"/>
          <p:cNvSpPr/>
          <p:nvPr/>
        </p:nvSpPr>
        <p:spPr>
          <a:xfrm>
            <a:off x="619110" y="681038"/>
            <a:ext cx="10839179" cy="1051322"/>
          </a:xfrm>
          <a:prstGeom prst="rect">
            <a:avLst/>
          </a:prstGeom>
          <a:noFill/>
        </p:spPr>
        <p:txBody>
          <a:bodyPr wrap="square" lIns="0" tIns="0" rIns="0" bIns="0" rtlCol="0" anchor="t">
            <a:normAutofit/>
          </a:bodyPr>
          <a:lstStyle/>
          <a:p>
            <a:pPr marL="0" indent="0" algn="l">
              <a:lnSpc>
                <a:spcPct val="100000"/>
              </a:lnSpc>
              <a:buNone/>
            </a:pPr>
            <a:r>
              <a:rPr lang="en-US" sz="2300" b="1" dirty="0">
                <a:solidFill>
                  <a:srgbClr val="222B2A"/>
                </a:solidFill>
                <a:latin typeface="Tinos Bold" panose="02020803070505020304" pitchFamily="34" charset="0"/>
                <a:ea typeface="Tinos Bold" panose="02020803070505020304" pitchFamily="34" charset="-122"/>
                <a:cs typeface="Tinos Bold" panose="02020803070505020304" pitchFamily="34" charset="-120"/>
              </a:rPr>
              <a:t>Mục tiêu chung: độc lập cho dân tộc, hạnh phúc cho nhân dân; là làm sao cho nước ta được hoàn toàn độc lập, dân ta được hoàn toàn tự do, đông bào ta ai cũng có cơm ăn, áo mặc, ai cũng được học hành)</a:t>
            </a:r>
            <a:endParaRPr lang="en-US" sz="2300" dirty="0"/>
          </a:p>
        </p:txBody>
      </p:sp>
      <p:sp>
        <p:nvSpPr>
          <p:cNvPr id="5" name="Shape 3"/>
          <p:cNvSpPr/>
          <p:nvPr/>
        </p:nvSpPr>
        <p:spPr>
          <a:xfrm>
            <a:off x="619110" y="6429474"/>
            <a:ext cx="10953476" cy="19050"/>
          </a:xfrm>
          <a:prstGeom prst="rect">
            <a:avLst/>
          </a:prstGeom>
          <a:solidFill>
            <a:srgbClr val="DED6CA"/>
          </a:solidFill>
        </p:spPr>
      </p:sp>
      <p:sp>
        <p:nvSpPr>
          <p:cNvPr id="6" name="Text 4"/>
          <p:cNvSpPr/>
          <p:nvPr/>
        </p:nvSpPr>
        <p:spPr>
          <a:xfrm>
            <a:off x="619110" y="6501705"/>
            <a:ext cx="11448764" cy="161925"/>
          </a:xfrm>
          <a:prstGeom prst="rect">
            <a:avLst/>
          </a:prstGeom>
          <a:noFill/>
        </p:spPr>
        <p:txBody>
          <a:bodyPr wrap="none" lIns="0" tIns="0" rIns="0" bIns="0" rtlCol="0" anchor="t"/>
          <a:lstStyle/>
          <a:p>
            <a:pPr marL="0" indent="0" algn="l">
              <a:lnSpc>
                <a:spcPct val="125000"/>
              </a:lnSpc>
              <a:buNone/>
            </a:pPr>
            <a:r>
              <a:rPr lang="en-US" sz="850" dirty="0">
                <a:solidFill>
                  <a:srgbClr val="66706A"/>
                </a:solidFill>
                <a:latin typeface="Tinos" panose="02020603050405020304" pitchFamily="34" charset="0"/>
                <a:ea typeface="Tinos" panose="02020603050405020304" pitchFamily="34" charset="-122"/>
                <a:cs typeface="Tinos" panose="02020603050405020304" pitchFamily="34" charset="-120"/>
              </a:rPr>
              <a:t>TƯ TƯỞNG HỒ CHÍ MINH · VẬN DỤNG TRONG ĐỜI SỐNG SINH VIÊN</a:t>
            </a:r>
            <a:endParaRPr lang="en-US" sz="850" dirty="0"/>
          </a:p>
        </p:txBody>
      </p:sp>
      <p:sp>
        <p:nvSpPr>
          <p:cNvPr id="7" name="Text 5"/>
          <p:cNvSpPr/>
          <p:nvPr/>
        </p:nvSpPr>
        <p:spPr>
          <a:xfrm>
            <a:off x="11048724" y="6474321"/>
            <a:ext cx="1142971" cy="219075"/>
          </a:xfrm>
          <a:prstGeom prst="rect">
            <a:avLst/>
          </a:prstGeom>
          <a:noFill/>
        </p:spPr>
        <p:txBody>
          <a:bodyPr wrap="none" lIns="0" tIns="0" rIns="0" bIns="0" rtlCol="0" anchor="t"/>
          <a:lstStyle/>
          <a:p>
            <a:pPr marL="0" indent="0" algn="l">
              <a:lnSpc>
                <a:spcPct val="125000"/>
              </a:lnSpc>
              <a:buNone/>
            </a:pPr>
            <a:r>
              <a:rPr lang="en-US" sz="11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02</a:t>
            </a:r>
            <a:endParaRPr lang="en-US" sz="1150" dirty="0"/>
          </a:p>
        </p:txBody>
      </p:sp>
      <p:sp>
        <p:nvSpPr>
          <p:cNvPr id="8" name="Shape 6"/>
          <p:cNvSpPr/>
          <p:nvPr/>
        </p:nvSpPr>
        <p:spPr>
          <a:xfrm>
            <a:off x="4429014" y="3284141"/>
            <a:ext cx="3381290" cy="1047750"/>
          </a:xfrm>
          <a:prstGeom prst="rect">
            <a:avLst/>
          </a:prstGeom>
          <a:solidFill>
            <a:srgbClr val="8D292E"/>
          </a:solidFill>
        </p:spPr>
      </p:sp>
      <p:sp>
        <p:nvSpPr>
          <p:cNvPr id="9" name="Text 7"/>
          <p:cNvSpPr/>
          <p:nvPr/>
        </p:nvSpPr>
        <p:spPr>
          <a:xfrm>
            <a:off x="4667133" y="3362821"/>
            <a:ext cx="2905052" cy="700881"/>
          </a:xfrm>
          <a:prstGeom prst="rect">
            <a:avLst/>
          </a:prstGeom>
          <a:noFill/>
        </p:spPr>
        <p:txBody>
          <a:bodyPr wrap="square" lIns="0" tIns="0" rIns="0" bIns="0" rtlCol="0" anchor="t">
            <a:normAutofit/>
          </a:bodyPr>
          <a:lstStyle/>
          <a:p>
            <a:pPr marL="0" indent="0" algn="ctr">
              <a:lnSpc>
                <a:spcPct val="100000"/>
              </a:lnSpc>
              <a:buNone/>
            </a:pPr>
            <a:r>
              <a:rPr lang="en-US" sz="23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ĐỜI SỐNG</a:t>
            </a:r>
            <a:endParaRPr lang="en-US" sz="2300" dirty="0"/>
          </a:p>
          <a:p>
            <a:pPr marL="0" indent="0" algn="ctr">
              <a:lnSpc>
                <a:spcPct val="100000"/>
              </a:lnSpc>
              <a:buNone/>
            </a:pPr>
            <a:r>
              <a:rPr lang="en-US" sz="23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NHÂN DÂN</a:t>
            </a:r>
            <a:endParaRPr lang="en-US" sz="2300" dirty="0"/>
          </a:p>
        </p:txBody>
      </p:sp>
      <p:sp>
        <p:nvSpPr>
          <p:cNvPr id="10" name="Shape 8"/>
          <p:cNvSpPr/>
          <p:nvPr/>
        </p:nvSpPr>
        <p:spPr>
          <a:xfrm>
            <a:off x="619110" y="2236391"/>
            <a:ext cx="3381290" cy="857250"/>
          </a:xfrm>
          <a:prstGeom prst="rect">
            <a:avLst/>
          </a:prstGeom>
          <a:solidFill>
            <a:srgbClr val="285F56"/>
          </a:solidFill>
        </p:spPr>
      </p:sp>
      <p:sp>
        <p:nvSpPr>
          <p:cNvPr id="11" name="Text 9"/>
          <p:cNvSpPr/>
          <p:nvPr/>
        </p:nvSpPr>
        <p:spPr>
          <a:xfrm>
            <a:off x="809605" y="2299295"/>
            <a:ext cx="3000300" cy="609600"/>
          </a:xfrm>
          <a:prstGeom prst="rect">
            <a:avLst/>
          </a:prstGeom>
          <a:noFill/>
        </p:spPr>
        <p:txBody>
          <a:bodyPr wrap="square" lIns="0" tIns="0" rIns="0" bIns="0" rtlCol="0" anchor="t">
            <a:normAutofit/>
          </a:bodyPr>
          <a:lstStyle/>
          <a:p>
            <a:pPr marL="0" indent="0" algn="ctr">
              <a:lnSpc>
                <a:spcPct val="100000"/>
              </a:lnSpc>
              <a:buNone/>
            </a:pPr>
            <a:r>
              <a:rPr lang="en-US" sz="20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Độc lập dân tộc</a:t>
            </a:r>
            <a:endParaRPr lang="en-US" sz="2000" dirty="0"/>
          </a:p>
          <a:p>
            <a:pPr marL="0" indent="0" algn="ctr">
              <a:lnSpc>
                <a:spcPct val="100000"/>
              </a:lnSpc>
              <a:buNone/>
            </a:pPr>
            <a:r>
              <a:rPr lang="en-US" sz="20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Tự do, hạnh phúc</a:t>
            </a:r>
            <a:endParaRPr lang="en-US" sz="2000" dirty="0"/>
          </a:p>
        </p:txBody>
      </p:sp>
      <p:sp>
        <p:nvSpPr>
          <p:cNvPr id="12" name="Shape 10"/>
          <p:cNvSpPr/>
          <p:nvPr/>
        </p:nvSpPr>
        <p:spPr>
          <a:xfrm>
            <a:off x="4000400" y="2645966"/>
            <a:ext cx="2095448" cy="38100"/>
          </a:xfrm>
          <a:prstGeom prst="rect">
            <a:avLst/>
          </a:prstGeom>
          <a:solidFill>
            <a:srgbClr val="C69745"/>
          </a:solidFill>
        </p:spPr>
      </p:sp>
      <p:sp>
        <p:nvSpPr>
          <p:cNvPr id="13" name="Shape 11"/>
          <p:cNvSpPr/>
          <p:nvPr/>
        </p:nvSpPr>
        <p:spPr>
          <a:xfrm>
            <a:off x="6076798" y="2665016"/>
            <a:ext cx="38099" cy="619125"/>
          </a:xfrm>
          <a:prstGeom prst="rect">
            <a:avLst/>
          </a:prstGeom>
          <a:solidFill>
            <a:srgbClr val="C69745"/>
          </a:solidFill>
        </p:spPr>
      </p:sp>
      <p:sp>
        <p:nvSpPr>
          <p:cNvPr id="14" name="Shape 12"/>
          <p:cNvSpPr/>
          <p:nvPr/>
        </p:nvSpPr>
        <p:spPr>
          <a:xfrm>
            <a:off x="8143671" y="2236391"/>
            <a:ext cx="3428914" cy="857250"/>
          </a:xfrm>
          <a:prstGeom prst="rect">
            <a:avLst/>
          </a:prstGeom>
          <a:solidFill>
            <a:srgbClr val="285F56"/>
          </a:solidFill>
        </p:spPr>
      </p:sp>
      <p:sp>
        <p:nvSpPr>
          <p:cNvPr id="15" name="Text 13"/>
          <p:cNvSpPr/>
          <p:nvPr/>
        </p:nvSpPr>
        <p:spPr>
          <a:xfrm>
            <a:off x="8334167" y="2270720"/>
            <a:ext cx="3047924" cy="609600"/>
          </a:xfrm>
          <a:prstGeom prst="rect">
            <a:avLst/>
          </a:prstGeom>
          <a:noFill/>
        </p:spPr>
        <p:txBody>
          <a:bodyPr wrap="square" lIns="0" tIns="0" rIns="0" bIns="0" rtlCol="0" anchor="t">
            <a:normAutofit/>
          </a:bodyPr>
          <a:lstStyle/>
          <a:p>
            <a:pPr marL="0" indent="0" algn="ctr">
              <a:lnSpc>
                <a:spcPct val="100000"/>
              </a:lnSpc>
              <a:buNone/>
            </a:pPr>
            <a:r>
              <a:rPr lang="en-US" sz="20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Ai cũng có cơm ăn áo mặc, ai cũng được học hành</a:t>
            </a:r>
            <a:endParaRPr lang="en-US" sz="2000" dirty="0"/>
          </a:p>
        </p:txBody>
      </p:sp>
      <p:sp>
        <p:nvSpPr>
          <p:cNvPr id="16" name="Shape 14"/>
          <p:cNvSpPr/>
          <p:nvPr/>
        </p:nvSpPr>
        <p:spPr>
          <a:xfrm>
            <a:off x="6095848" y="2645966"/>
            <a:ext cx="2047824" cy="38100"/>
          </a:xfrm>
          <a:prstGeom prst="rect">
            <a:avLst/>
          </a:prstGeom>
          <a:solidFill>
            <a:srgbClr val="C69745"/>
          </a:solidFill>
        </p:spPr>
      </p:sp>
      <p:sp>
        <p:nvSpPr>
          <p:cNvPr id="17" name="Shape 15"/>
          <p:cNvSpPr/>
          <p:nvPr/>
        </p:nvSpPr>
        <p:spPr>
          <a:xfrm>
            <a:off x="6076798" y="4331891"/>
            <a:ext cx="38099" cy="428625"/>
          </a:xfrm>
          <a:prstGeom prst="rect">
            <a:avLst/>
          </a:prstGeom>
          <a:solidFill>
            <a:srgbClr val="C69745"/>
          </a:solidFill>
        </p:spPr>
      </p:sp>
      <p:sp>
        <p:nvSpPr>
          <p:cNvPr id="18" name="Shape 16"/>
          <p:cNvSpPr/>
          <p:nvPr/>
        </p:nvSpPr>
        <p:spPr>
          <a:xfrm>
            <a:off x="2381190" y="4760516"/>
            <a:ext cx="7381690" cy="857250"/>
          </a:xfrm>
          <a:prstGeom prst="rect">
            <a:avLst/>
          </a:prstGeom>
          <a:solidFill>
            <a:srgbClr val="285F56"/>
          </a:solidFill>
        </p:spPr>
      </p:sp>
      <p:sp>
        <p:nvSpPr>
          <p:cNvPr id="19" name="Text 17"/>
          <p:cNvSpPr/>
          <p:nvPr/>
        </p:nvSpPr>
        <p:spPr>
          <a:xfrm>
            <a:off x="2600260" y="4775795"/>
            <a:ext cx="6953076" cy="609600"/>
          </a:xfrm>
          <a:prstGeom prst="rect">
            <a:avLst/>
          </a:prstGeom>
          <a:noFill/>
        </p:spPr>
        <p:txBody>
          <a:bodyPr wrap="square" lIns="0" tIns="0" rIns="0" bIns="0" rtlCol="0" anchor="t">
            <a:normAutofit/>
          </a:bodyPr>
          <a:lstStyle/>
          <a:p>
            <a:pPr marL="0" indent="0" algn="ctr">
              <a:lnSpc>
                <a:spcPct val="100000"/>
              </a:lnSpc>
              <a:buNone/>
            </a:pPr>
            <a:r>
              <a:rPr lang="en-US" sz="20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Nâng cao đời sống vật chất và tinh thần của nhân dân, trước hết là nhân dân lao động</a:t>
            </a:r>
            <a:endParaRPr lang="en-US" sz="2000" dirty="0"/>
          </a:p>
        </p:txBody>
      </p:sp>
      <p:sp>
        <p:nvSpPr>
          <p:cNvPr id="20" name="Text 18"/>
          <p:cNvSpPr/>
          <p:nvPr/>
        </p:nvSpPr>
        <p:spPr>
          <a:xfrm>
            <a:off x="9886703" y="4807645"/>
            <a:ext cx="1504912" cy="685800"/>
          </a:xfrm>
          <a:prstGeom prst="rect">
            <a:avLst/>
          </a:prstGeom>
          <a:noFill/>
        </p:spPr>
        <p:txBody>
          <a:bodyPr wrap="square" lIns="0" tIns="0" rIns="0" bIns="0" rtlCol="0" anchor="t">
            <a:normAutofit/>
          </a:bodyPr>
          <a:lstStyle/>
          <a:p>
            <a:pPr marL="0" indent="0" algn="l">
              <a:lnSpc>
                <a:spcPct val="125000"/>
              </a:lnSpc>
              <a:buNone/>
            </a:pPr>
            <a:r>
              <a:rPr lang="en-US" sz="1800" dirty="0">
                <a:solidFill>
                  <a:srgbClr val="FF0000"/>
                </a:solidFill>
                <a:latin typeface="Tinos" panose="02020603050405020304" pitchFamily="34" charset="0"/>
                <a:ea typeface="Tinos" panose="02020603050405020304" pitchFamily="34" charset="-122"/>
                <a:cs typeface="Tinos" panose="02020603050405020304" pitchFamily="34" charset="-120"/>
              </a:rPr>
              <a:t>=&gt;Quan trọng nhất</a:t>
            </a:r>
            <a:endParaRPr lang="en-US" sz="1800" dirty="0"/>
          </a:p>
        </p:txBody>
      </p:sp>
      <p:pic>
        <p:nvPicPr>
          <p:cNvPr id="21" name="Image 0" descr="preencoded.png"/>
          <p:cNvPicPr>
            <a:picLocks noChangeAspect="1"/>
          </p:cNvPicPr>
          <p:nvPr/>
        </p:nvPicPr>
        <p:blipFill>
          <a:blip r:embed="rId1"/>
          <a:stretch>
            <a:fillRect/>
          </a:stretch>
        </p:blipFill>
        <p:spPr>
          <a:xfrm>
            <a:off x="11077000" y="6559252"/>
            <a:ext cx="1071833" cy="2559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2871" cy="6858099"/>
          </a:xfrm>
          <a:prstGeom prst="rect">
            <a:avLst/>
          </a:prstGeom>
          <a:solidFill>
            <a:srgbClr val="8D292E"/>
          </a:solidFill>
        </p:spPr>
      </p:sp>
      <p:sp>
        <p:nvSpPr>
          <p:cNvPr id="3" name="Text 1"/>
          <p:cNvSpPr/>
          <p:nvPr/>
        </p:nvSpPr>
        <p:spPr>
          <a:xfrm>
            <a:off x="619110" y="249238"/>
            <a:ext cx="11448764" cy="247650"/>
          </a:xfrm>
          <a:prstGeom prst="rect">
            <a:avLst/>
          </a:prstGeom>
          <a:noFill/>
        </p:spPr>
        <p:txBody>
          <a:bodyPr wrap="none" lIns="0" tIns="0" rIns="0" bIns="0" rtlCol="0" anchor="t"/>
          <a:lstStyle/>
          <a:p>
            <a:pPr marL="0" indent="0" algn="l">
              <a:lnSpc>
                <a:spcPct val="125000"/>
              </a:lnSpc>
              <a:buNone/>
            </a:pPr>
            <a:r>
              <a:rPr lang="en-US" sz="130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01 · CƠ SỞ LÝ LUẬN</a:t>
            </a:r>
            <a:endParaRPr lang="en-US" sz="1300" dirty="0"/>
          </a:p>
        </p:txBody>
      </p:sp>
      <p:sp>
        <p:nvSpPr>
          <p:cNvPr id="4" name="Text 2"/>
          <p:cNvSpPr/>
          <p:nvPr/>
        </p:nvSpPr>
        <p:spPr>
          <a:xfrm>
            <a:off x="619110" y="706735"/>
            <a:ext cx="10896327" cy="457200"/>
          </a:xfrm>
          <a:prstGeom prst="rect">
            <a:avLst/>
          </a:prstGeom>
          <a:noFill/>
        </p:spPr>
        <p:txBody>
          <a:bodyPr wrap="none" lIns="0" tIns="0" rIns="0" bIns="0" rtlCol="0" anchor="t"/>
          <a:lstStyle/>
          <a:p>
            <a:pPr marL="0" indent="0" algn="l">
              <a:lnSpc>
                <a:spcPct val="100000"/>
              </a:lnSpc>
              <a:buNone/>
            </a:pPr>
            <a:r>
              <a:rPr lang="en-US" sz="3000" b="1" dirty="0">
                <a:solidFill>
                  <a:srgbClr val="222B2A"/>
                </a:solidFill>
                <a:latin typeface="Tinos Bold" panose="02020803070505020304" pitchFamily="34" charset="0"/>
                <a:ea typeface="Tinos Bold" panose="02020803070505020304" pitchFamily="34" charset="-122"/>
                <a:cs typeface="Tinos Bold" panose="02020803070505020304" pitchFamily="34" charset="-120"/>
              </a:rPr>
              <a:t>Các mục tiêu cụ thể:</a:t>
            </a:r>
            <a:endParaRPr lang="en-US" sz="3000" dirty="0"/>
          </a:p>
        </p:txBody>
      </p:sp>
      <p:sp>
        <p:nvSpPr>
          <p:cNvPr id="5" name="Shape 3"/>
          <p:cNvSpPr/>
          <p:nvPr/>
        </p:nvSpPr>
        <p:spPr>
          <a:xfrm>
            <a:off x="619110" y="6429474"/>
            <a:ext cx="10953476" cy="19050"/>
          </a:xfrm>
          <a:prstGeom prst="rect">
            <a:avLst/>
          </a:prstGeom>
          <a:solidFill>
            <a:srgbClr val="DED6CA"/>
          </a:solidFill>
        </p:spPr>
      </p:sp>
      <p:sp>
        <p:nvSpPr>
          <p:cNvPr id="6" name="Text 4"/>
          <p:cNvSpPr/>
          <p:nvPr/>
        </p:nvSpPr>
        <p:spPr>
          <a:xfrm>
            <a:off x="619110" y="6501705"/>
            <a:ext cx="11448764" cy="161925"/>
          </a:xfrm>
          <a:prstGeom prst="rect">
            <a:avLst/>
          </a:prstGeom>
          <a:noFill/>
        </p:spPr>
        <p:txBody>
          <a:bodyPr wrap="none" lIns="0" tIns="0" rIns="0" bIns="0" rtlCol="0" anchor="t"/>
          <a:lstStyle/>
          <a:p>
            <a:pPr marL="0" indent="0" algn="l">
              <a:lnSpc>
                <a:spcPct val="125000"/>
              </a:lnSpc>
              <a:buNone/>
            </a:pPr>
            <a:r>
              <a:rPr lang="en-US" sz="850" dirty="0">
                <a:solidFill>
                  <a:srgbClr val="66706A"/>
                </a:solidFill>
                <a:latin typeface="Tinos" panose="02020603050405020304" pitchFamily="34" charset="0"/>
                <a:ea typeface="Tinos" panose="02020603050405020304" pitchFamily="34" charset="-122"/>
                <a:cs typeface="Tinos" panose="02020603050405020304" pitchFamily="34" charset="-120"/>
              </a:rPr>
              <a:t>TƯ TƯỞNG HỒ CHÍ MINH · VẬN DỤNG TRONG ĐỜI SỐNG SINH VIÊN</a:t>
            </a:r>
            <a:endParaRPr lang="en-US" sz="850" dirty="0"/>
          </a:p>
        </p:txBody>
      </p:sp>
      <p:sp>
        <p:nvSpPr>
          <p:cNvPr id="7" name="Text 5"/>
          <p:cNvSpPr/>
          <p:nvPr/>
        </p:nvSpPr>
        <p:spPr>
          <a:xfrm>
            <a:off x="11048724" y="6474321"/>
            <a:ext cx="1142971" cy="219075"/>
          </a:xfrm>
          <a:prstGeom prst="rect">
            <a:avLst/>
          </a:prstGeom>
          <a:noFill/>
        </p:spPr>
        <p:txBody>
          <a:bodyPr wrap="none" lIns="0" tIns="0" rIns="0" bIns="0" rtlCol="0" anchor="t"/>
          <a:lstStyle/>
          <a:p>
            <a:pPr marL="0" indent="0" algn="l">
              <a:lnSpc>
                <a:spcPct val="125000"/>
              </a:lnSpc>
              <a:buNone/>
            </a:pPr>
            <a:r>
              <a:rPr lang="en-US" sz="11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03</a:t>
            </a:r>
            <a:endParaRPr lang="en-US" sz="1150" dirty="0"/>
          </a:p>
        </p:txBody>
      </p:sp>
      <p:sp>
        <p:nvSpPr>
          <p:cNvPr id="8" name="Shape 6"/>
          <p:cNvSpPr/>
          <p:nvPr/>
        </p:nvSpPr>
        <p:spPr>
          <a:xfrm>
            <a:off x="4261835" y="2855516"/>
            <a:ext cx="3428914" cy="1190625"/>
          </a:xfrm>
          <a:prstGeom prst="rect">
            <a:avLst/>
          </a:prstGeom>
          <a:solidFill>
            <a:srgbClr val="8D292E"/>
          </a:solidFill>
        </p:spPr>
      </p:sp>
      <p:sp>
        <p:nvSpPr>
          <p:cNvPr id="9" name="Text 7"/>
          <p:cNvSpPr/>
          <p:nvPr/>
        </p:nvSpPr>
        <p:spPr>
          <a:xfrm>
            <a:off x="4476638" y="3284637"/>
            <a:ext cx="3000300" cy="350441"/>
          </a:xfrm>
          <a:prstGeom prst="rect">
            <a:avLst/>
          </a:prstGeom>
          <a:noFill/>
        </p:spPr>
        <p:txBody>
          <a:bodyPr wrap="none" lIns="0" tIns="0" rIns="0" bIns="0" rtlCol="0" anchor="t"/>
          <a:lstStyle/>
          <a:p>
            <a:pPr marL="0" indent="0" algn="ctr">
              <a:lnSpc>
                <a:spcPct val="100000"/>
              </a:lnSpc>
              <a:buNone/>
            </a:pPr>
            <a:r>
              <a:rPr lang="en-US" sz="23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MỤC TIÊU CỤ THỂ</a:t>
            </a:r>
            <a:endParaRPr lang="en-US" sz="2300" dirty="0"/>
          </a:p>
        </p:txBody>
      </p:sp>
      <p:sp>
        <p:nvSpPr>
          <p:cNvPr id="10" name="Shape 8"/>
          <p:cNvSpPr/>
          <p:nvPr/>
        </p:nvSpPr>
        <p:spPr>
          <a:xfrm>
            <a:off x="3261735" y="2379266"/>
            <a:ext cx="1047724" cy="38100"/>
          </a:xfrm>
          <a:prstGeom prst="rect">
            <a:avLst/>
          </a:prstGeom>
          <a:solidFill>
            <a:srgbClr val="C69745"/>
          </a:solidFill>
        </p:spPr>
      </p:sp>
      <p:sp>
        <p:nvSpPr>
          <p:cNvPr id="11" name="Shape 9"/>
          <p:cNvSpPr/>
          <p:nvPr/>
        </p:nvSpPr>
        <p:spPr>
          <a:xfrm>
            <a:off x="4261835" y="2379266"/>
            <a:ext cx="38099" cy="1066800"/>
          </a:xfrm>
          <a:prstGeom prst="rect">
            <a:avLst/>
          </a:prstGeom>
          <a:solidFill>
            <a:srgbClr val="C69745"/>
          </a:solidFill>
        </p:spPr>
      </p:sp>
      <p:sp>
        <p:nvSpPr>
          <p:cNvPr id="12" name="Shape 10"/>
          <p:cNvSpPr/>
          <p:nvPr/>
        </p:nvSpPr>
        <p:spPr>
          <a:xfrm>
            <a:off x="7690749" y="2379266"/>
            <a:ext cx="1095348" cy="38100"/>
          </a:xfrm>
          <a:prstGeom prst="rect">
            <a:avLst/>
          </a:prstGeom>
          <a:solidFill>
            <a:srgbClr val="C69745"/>
          </a:solidFill>
        </p:spPr>
      </p:sp>
      <p:sp>
        <p:nvSpPr>
          <p:cNvPr id="13" name="Shape 11"/>
          <p:cNvSpPr/>
          <p:nvPr/>
        </p:nvSpPr>
        <p:spPr>
          <a:xfrm>
            <a:off x="7652650" y="2379266"/>
            <a:ext cx="38099" cy="1066800"/>
          </a:xfrm>
          <a:prstGeom prst="rect">
            <a:avLst/>
          </a:prstGeom>
          <a:solidFill>
            <a:srgbClr val="C69745"/>
          </a:solidFill>
        </p:spPr>
      </p:sp>
      <p:sp>
        <p:nvSpPr>
          <p:cNvPr id="14" name="Shape 12"/>
          <p:cNvSpPr/>
          <p:nvPr/>
        </p:nvSpPr>
        <p:spPr>
          <a:xfrm>
            <a:off x="3261735" y="4522391"/>
            <a:ext cx="1047724" cy="38100"/>
          </a:xfrm>
          <a:prstGeom prst="rect">
            <a:avLst/>
          </a:prstGeom>
          <a:solidFill>
            <a:srgbClr val="C69745"/>
          </a:solidFill>
        </p:spPr>
      </p:sp>
      <p:sp>
        <p:nvSpPr>
          <p:cNvPr id="15" name="Shape 13"/>
          <p:cNvSpPr/>
          <p:nvPr/>
        </p:nvSpPr>
        <p:spPr>
          <a:xfrm>
            <a:off x="4261835" y="3446066"/>
            <a:ext cx="38099" cy="1104900"/>
          </a:xfrm>
          <a:prstGeom prst="rect">
            <a:avLst/>
          </a:prstGeom>
          <a:solidFill>
            <a:srgbClr val="C69745"/>
          </a:solidFill>
        </p:spPr>
      </p:sp>
      <p:sp>
        <p:nvSpPr>
          <p:cNvPr id="16" name="Shape 14"/>
          <p:cNvSpPr/>
          <p:nvPr/>
        </p:nvSpPr>
        <p:spPr>
          <a:xfrm>
            <a:off x="7690749" y="4522391"/>
            <a:ext cx="1095348" cy="38100"/>
          </a:xfrm>
          <a:prstGeom prst="rect">
            <a:avLst/>
          </a:prstGeom>
          <a:solidFill>
            <a:srgbClr val="C69745"/>
          </a:solidFill>
        </p:spPr>
      </p:sp>
      <p:sp>
        <p:nvSpPr>
          <p:cNvPr id="17" name="Shape 15"/>
          <p:cNvSpPr/>
          <p:nvPr/>
        </p:nvSpPr>
        <p:spPr>
          <a:xfrm>
            <a:off x="7652650" y="3446066"/>
            <a:ext cx="38099" cy="1104900"/>
          </a:xfrm>
          <a:prstGeom prst="rect">
            <a:avLst/>
          </a:prstGeom>
          <a:solidFill>
            <a:srgbClr val="C69745"/>
          </a:solidFill>
        </p:spPr>
      </p:sp>
      <p:sp>
        <p:nvSpPr>
          <p:cNvPr id="18" name="Shape 16"/>
          <p:cNvSpPr/>
          <p:nvPr/>
        </p:nvSpPr>
        <p:spPr>
          <a:xfrm>
            <a:off x="594802" y="1807766"/>
            <a:ext cx="2666933" cy="619125"/>
          </a:xfrm>
          <a:prstGeom prst="rect">
            <a:avLst/>
          </a:prstGeom>
          <a:solidFill>
            <a:srgbClr val="285F56"/>
          </a:solidFill>
        </p:spPr>
      </p:sp>
      <p:sp>
        <p:nvSpPr>
          <p:cNvPr id="19" name="Text 17"/>
          <p:cNvSpPr/>
          <p:nvPr/>
        </p:nvSpPr>
        <p:spPr>
          <a:xfrm>
            <a:off x="747198" y="1960166"/>
            <a:ext cx="2304992"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Chính trị</a:t>
            </a:r>
            <a:endParaRPr lang="en-US" sz="2100" dirty="0"/>
          </a:p>
        </p:txBody>
      </p:sp>
      <p:sp>
        <p:nvSpPr>
          <p:cNvPr id="20" name="Text 18"/>
          <p:cNvSpPr/>
          <p:nvPr/>
        </p:nvSpPr>
        <p:spPr>
          <a:xfrm>
            <a:off x="619110" y="2506266"/>
            <a:ext cx="3276518" cy="304800"/>
          </a:xfrm>
          <a:prstGeom prst="rect">
            <a:avLst/>
          </a:prstGeom>
          <a:noFill/>
        </p:spPr>
        <p:txBody>
          <a:bodyPr wrap="none" lIns="0" tIns="0" rIns="0" bIns="0" rtlCol="0" anchor="t"/>
          <a:lstStyle/>
          <a:p>
            <a:pPr marL="0" indent="0" algn="l">
              <a:lnSpc>
                <a:spcPct val="100000"/>
              </a:lnSpc>
              <a:buNone/>
            </a:pPr>
            <a:r>
              <a:rPr lang="en-US" sz="2000" dirty="0">
                <a:solidFill>
                  <a:srgbClr val="222B2A"/>
                </a:solidFill>
                <a:latin typeface="Tinos" panose="02020603050405020304" pitchFamily="34" charset="0"/>
                <a:ea typeface="Tinos" panose="02020603050405020304" pitchFamily="34" charset="-122"/>
                <a:cs typeface="Tinos" panose="02020603050405020304" pitchFamily="34" charset="-120"/>
              </a:rPr>
              <a:t>Phải do dân ta làm chủ</a:t>
            </a:r>
            <a:endParaRPr lang="en-US" sz="2000" dirty="0"/>
          </a:p>
        </p:txBody>
      </p:sp>
      <p:sp>
        <p:nvSpPr>
          <p:cNvPr id="21" name="Shape 19"/>
          <p:cNvSpPr/>
          <p:nvPr/>
        </p:nvSpPr>
        <p:spPr>
          <a:xfrm>
            <a:off x="8786097" y="1807766"/>
            <a:ext cx="2666933" cy="619125"/>
          </a:xfrm>
          <a:prstGeom prst="rect">
            <a:avLst/>
          </a:prstGeom>
          <a:solidFill>
            <a:srgbClr val="285F56"/>
          </a:solidFill>
        </p:spPr>
      </p:sp>
      <p:sp>
        <p:nvSpPr>
          <p:cNvPr id="22" name="Text 20"/>
          <p:cNvSpPr/>
          <p:nvPr/>
        </p:nvSpPr>
        <p:spPr>
          <a:xfrm>
            <a:off x="8938493" y="1960166"/>
            <a:ext cx="2304992"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Kinh tế</a:t>
            </a:r>
            <a:endParaRPr lang="en-US" sz="2100" dirty="0"/>
          </a:p>
        </p:txBody>
      </p:sp>
      <p:sp>
        <p:nvSpPr>
          <p:cNvPr id="23" name="Text 21"/>
          <p:cNvSpPr/>
          <p:nvPr/>
        </p:nvSpPr>
        <p:spPr>
          <a:xfrm>
            <a:off x="8238919" y="2450405"/>
            <a:ext cx="3276518" cy="914400"/>
          </a:xfrm>
          <a:prstGeom prst="rect">
            <a:avLst/>
          </a:prstGeom>
          <a:noFill/>
        </p:spPr>
        <p:txBody>
          <a:bodyPr wrap="square" lIns="0" tIns="0" rIns="0" bIns="0" rtlCol="0" anchor="t">
            <a:normAutofit/>
          </a:bodyPr>
          <a:lstStyle/>
          <a:p>
            <a:pPr marL="0" indent="0" algn="l">
              <a:lnSpc>
                <a:spcPct val="100000"/>
              </a:lnSpc>
              <a:buNone/>
            </a:pPr>
            <a:r>
              <a:rPr lang="en-US" sz="2000" dirty="0">
                <a:solidFill>
                  <a:srgbClr val="222B2A"/>
                </a:solidFill>
                <a:latin typeface="Tinos" panose="02020603050405020304" pitchFamily="34" charset="0"/>
                <a:ea typeface="Tinos" panose="02020603050405020304" pitchFamily="34" charset="-122"/>
                <a:cs typeface="Tinos" panose="02020603050405020304" pitchFamily="34" charset="-120"/>
              </a:rPr>
              <a:t>Phải đạt mục tiêu có nền kinh tế phát triển cao gắn bó mật thiết với mục tiêu về chính trị</a:t>
            </a:r>
            <a:endParaRPr lang="en-US" sz="2000" dirty="0"/>
          </a:p>
        </p:txBody>
      </p:sp>
      <p:sp>
        <p:nvSpPr>
          <p:cNvPr id="24" name="Shape 22"/>
          <p:cNvSpPr/>
          <p:nvPr/>
        </p:nvSpPr>
        <p:spPr>
          <a:xfrm>
            <a:off x="594802" y="3998516"/>
            <a:ext cx="2666933" cy="619125"/>
          </a:xfrm>
          <a:prstGeom prst="rect">
            <a:avLst/>
          </a:prstGeom>
          <a:solidFill>
            <a:srgbClr val="285F56"/>
          </a:solidFill>
        </p:spPr>
      </p:sp>
      <p:sp>
        <p:nvSpPr>
          <p:cNvPr id="25" name="Text 23"/>
          <p:cNvSpPr/>
          <p:nvPr/>
        </p:nvSpPr>
        <p:spPr>
          <a:xfrm>
            <a:off x="747198" y="4150916"/>
            <a:ext cx="2304992"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Văn hóa</a:t>
            </a:r>
            <a:endParaRPr lang="en-US" sz="2100" dirty="0"/>
          </a:p>
        </p:txBody>
      </p:sp>
      <p:sp>
        <p:nvSpPr>
          <p:cNvPr id="26" name="Text 24"/>
          <p:cNvSpPr/>
          <p:nvPr/>
        </p:nvSpPr>
        <p:spPr>
          <a:xfrm>
            <a:off x="619110" y="4641155"/>
            <a:ext cx="3219369" cy="914400"/>
          </a:xfrm>
          <a:prstGeom prst="rect">
            <a:avLst/>
          </a:prstGeom>
          <a:noFill/>
        </p:spPr>
        <p:txBody>
          <a:bodyPr wrap="square" lIns="0" tIns="0" rIns="0" bIns="0" rtlCol="0" anchor="t">
            <a:normAutofit/>
          </a:bodyPr>
          <a:lstStyle/>
          <a:p>
            <a:pPr marL="0" indent="0" algn="l">
              <a:lnSpc>
                <a:spcPct val="100000"/>
              </a:lnSpc>
              <a:buNone/>
            </a:pPr>
            <a:r>
              <a:rPr lang="en-US" sz="2000" dirty="0">
                <a:solidFill>
                  <a:srgbClr val="222B2A"/>
                </a:solidFill>
                <a:latin typeface="Tinos" panose="02020603050405020304" pitchFamily="34" charset="0"/>
                <a:ea typeface="Tinos" panose="02020603050405020304" pitchFamily="34" charset="-122"/>
                <a:cs typeface="Tinos" panose="02020603050405020304" pitchFamily="34" charset="-120"/>
              </a:rPr>
              <a:t>Phải mang tính dân tộc, khoa học, đại chúng và tiếp thu tinh hoa văn hóa của nhân loại</a:t>
            </a:r>
            <a:endParaRPr lang="en-US" sz="2000" dirty="0"/>
          </a:p>
        </p:txBody>
      </p:sp>
      <p:sp>
        <p:nvSpPr>
          <p:cNvPr id="27" name="Shape 25"/>
          <p:cNvSpPr/>
          <p:nvPr/>
        </p:nvSpPr>
        <p:spPr>
          <a:xfrm>
            <a:off x="8786097" y="3998516"/>
            <a:ext cx="2666933" cy="619125"/>
          </a:xfrm>
          <a:prstGeom prst="rect">
            <a:avLst/>
          </a:prstGeom>
          <a:solidFill>
            <a:srgbClr val="285F56"/>
          </a:solidFill>
        </p:spPr>
      </p:sp>
      <p:sp>
        <p:nvSpPr>
          <p:cNvPr id="28" name="Text 26"/>
          <p:cNvSpPr/>
          <p:nvPr/>
        </p:nvSpPr>
        <p:spPr>
          <a:xfrm>
            <a:off x="8938493" y="4150916"/>
            <a:ext cx="2304992"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Xã hội</a:t>
            </a:r>
            <a:endParaRPr lang="en-US" sz="2100" dirty="0"/>
          </a:p>
        </p:txBody>
      </p:sp>
      <p:sp>
        <p:nvSpPr>
          <p:cNvPr id="29" name="Text 27"/>
          <p:cNvSpPr/>
          <p:nvPr/>
        </p:nvSpPr>
        <p:spPr>
          <a:xfrm>
            <a:off x="8238919" y="4641155"/>
            <a:ext cx="3219369" cy="609600"/>
          </a:xfrm>
          <a:prstGeom prst="rect">
            <a:avLst/>
          </a:prstGeom>
          <a:noFill/>
        </p:spPr>
        <p:txBody>
          <a:bodyPr wrap="square" lIns="0" tIns="0" rIns="0" bIns="0" rtlCol="0" anchor="t">
            <a:normAutofit/>
          </a:bodyPr>
          <a:lstStyle/>
          <a:p>
            <a:pPr marL="0" indent="0" algn="l">
              <a:lnSpc>
                <a:spcPct val="100000"/>
              </a:lnSpc>
              <a:buNone/>
            </a:pPr>
            <a:r>
              <a:rPr lang="en-US" sz="2000" dirty="0">
                <a:solidFill>
                  <a:srgbClr val="222B2A"/>
                </a:solidFill>
                <a:latin typeface="Tinos" panose="02020603050405020304" pitchFamily="34" charset="0"/>
                <a:ea typeface="Tinos" panose="02020603050405020304" pitchFamily="34" charset="-122"/>
                <a:cs typeface="Tinos" panose="02020603050405020304" pitchFamily="34" charset="-120"/>
              </a:rPr>
              <a:t>Phải đảm bảo dân chủ, công bằng ,văn minh</a:t>
            </a:r>
            <a:endParaRPr lang="en-US" sz="2000" dirty="0"/>
          </a:p>
        </p:txBody>
      </p:sp>
      <p:pic>
        <p:nvPicPr>
          <p:cNvPr id="30" name="Image 0" descr="preencoded.png"/>
          <p:cNvPicPr>
            <a:picLocks noChangeAspect="1"/>
          </p:cNvPicPr>
          <p:nvPr/>
        </p:nvPicPr>
        <p:blipFill>
          <a:blip r:embed="rId1"/>
          <a:stretch>
            <a:fillRect/>
          </a:stretch>
        </p:blipFill>
        <p:spPr>
          <a:xfrm>
            <a:off x="11077000" y="6559252"/>
            <a:ext cx="1071833" cy="25598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2871" cy="6858099"/>
          </a:xfrm>
          <a:prstGeom prst="rect">
            <a:avLst/>
          </a:prstGeom>
          <a:solidFill>
            <a:srgbClr val="8D292E"/>
          </a:solidFill>
        </p:spPr>
      </p:sp>
      <p:sp>
        <p:nvSpPr>
          <p:cNvPr id="3" name="Text 1"/>
          <p:cNvSpPr/>
          <p:nvPr/>
        </p:nvSpPr>
        <p:spPr>
          <a:xfrm>
            <a:off x="619110" y="249238"/>
            <a:ext cx="11448764" cy="247650"/>
          </a:xfrm>
          <a:prstGeom prst="rect">
            <a:avLst/>
          </a:prstGeom>
          <a:noFill/>
        </p:spPr>
        <p:txBody>
          <a:bodyPr wrap="none" lIns="0" tIns="0" rIns="0" bIns="0" rtlCol="0" anchor="t"/>
          <a:lstStyle/>
          <a:p>
            <a:pPr marL="0" indent="0" algn="l">
              <a:lnSpc>
                <a:spcPct val="125000"/>
              </a:lnSpc>
              <a:buNone/>
            </a:pPr>
            <a:r>
              <a:rPr lang="en-US" sz="130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02 · KINH TẾ</a:t>
            </a:r>
            <a:endParaRPr lang="en-US" sz="1300" dirty="0"/>
          </a:p>
        </p:txBody>
      </p:sp>
      <p:sp>
        <p:nvSpPr>
          <p:cNvPr id="4" name="Text 2"/>
          <p:cNvSpPr/>
          <p:nvPr/>
        </p:nvSpPr>
        <p:spPr>
          <a:xfrm>
            <a:off x="619110" y="706735"/>
            <a:ext cx="10896327" cy="457200"/>
          </a:xfrm>
          <a:prstGeom prst="rect">
            <a:avLst/>
          </a:prstGeom>
          <a:noFill/>
        </p:spPr>
        <p:txBody>
          <a:bodyPr wrap="none" lIns="0" tIns="0" rIns="0" bIns="0" rtlCol="0" anchor="t"/>
          <a:lstStyle/>
          <a:p>
            <a:pPr marL="0" indent="0" algn="l">
              <a:lnSpc>
                <a:spcPct val="100000"/>
              </a:lnSpc>
              <a:buNone/>
            </a:pPr>
            <a:r>
              <a:rPr lang="en-US" sz="3000" b="1" dirty="0">
                <a:solidFill>
                  <a:srgbClr val="222B2A"/>
                </a:solidFill>
                <a:latin typeface="Tinos Bold" panose="02020803070505020304" pitchFamily="34" charset="0"/>
                <a:ea typeface="Tinos Bold" panose="02020803070505020304" pitchFamily="34" charset="-122"/>
                <a:cs typeface="Tinos Bold" panose="02020803070505020304" pitchFamily="34" charset="-120"/>
              </a:rPr>
              <a:t>Mục tiêu kinh tế</a:t>
            </a:r>
            <a:endParaRPr lang="en-US" sz="3000" dirty="0"/>
          </a:p>
        </p:txBody>
      </p:sp>
      <p:sp>
        <p:nvSpPr>
          <p:cNvPr id="5" name="Shape 3"/>
          <p:cNvSpPr/>
          <p:nvPr/>
        </p:nvSpPr>
        <p:spPr>
          <a:xfrm>
            <a:off x="619110" y="6429474"/>
            <a:ext cx="10953476" cy="19050"/>
          </a:xfrm>
          <a:prstGeom prst="rect">
            <a:avLst/>
          </a:prstGeom>
          <a:solidFill>
            <a:srgbClr val="DED6CA"/>
          </a:solidFill>
        </p:spPr>
      </p:sp>
      <p:sp>
        <p:nvSpPr>
          <p:cNvPr id="6" name="Text 4"/>
          <p:cNvSpPr/>
          <p:nvPr/>
        </p:nvSpPr>
        <p:spPr>
          <a:xfrm>
            <a:off x="619110" y="6501705"/>
            <a:ext cx="11448764" cy="161925"/>
          </a:xfrm>
          <a:prstGeom prst="rect">
            <a:avLst/>
          </a:prstGeom>
          <a:noFill/>
        </p:spPr>
        <p:txBody>
          <a:bodyPr wrap="none" lIns="0" tIns="0" rIns="0" bIns="0" rtlCol="0" anchor="t"/>
          <a:lstStyle/>
          <a:p>
            <a:pPr marL="0" indent="0" algn="l">
              <a:lnSpc>
                <a:spcPct val="125000"/>
              </a:lnSpc>
              <a:buNone/>
            </a:pPr>
            <a:r>
              <a:rPr lang="en-US" sz="850" dirty="0">
                <a:solidFill>
                  <a:srgbClr val="66706A"/>
                </a:solidFill>
                <a:latin typeface="Tinos" panose="02020603050405020304" pitchFamily="34" charset="0"/>
                <a:ea typeface="Tinos" panose="02020603050405020304" pitchFamily="34" charset="-122"/>
                <a:cs typeface="Tinos" panose="02020603050405020304" pitchFamily="34" charset="-120"/>
              </a:rPr>
              <a:t>TƯ TƯỞNG HỒ CHÍ MINH · VẬN DỤNG TRONG ĐỜI SỐNG SINH VIÊN</a:t>
            </a:r>
            <a:endParaRPr lang="en-US" sz="850" dirty="0"/>
          </a:p>
        </p:txBody>
      </p:sp>
      <p:sp>
        <p:nvSpPr>
          <p:cNvPr id="7" name="Text 5"/>
          <p:cNvSpPr/>
          <p:nvPr/>
        </p:nvSpPr>
        <p:spPr>
          <a:xfrm>
            <a:off x="11048724" y="6474321"/>
            <a:ext cx="1142971" cy="219075"/>
          </a:xfrm>
          <a:prstGeom prst="rect">
            <a:avLst/>
          </a:prstGeom>
          <a:noFill/>
        </p:spPr>
        <p:txBody>
          <a:bodyPr wrap="none" lIns="0" tIns="0" rIns="0" bIns="0" rtlCol="0" anchor="t"/>
          <a:lstStyle/>
          <a:p>
            <a:pPr marL="0" indent="0" algn="l">
              <a:lnSpc>
                <a:spcPct val="125000"/>
              </a:lnSpc>
              <a:buNone/>
            </a:pPr>
            <a:r>
              <a:rPr lang="en-US" sz="11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04</a:t>
            </a:r>
            <a:endParaRPr lang="en-US" sz="1150" dirty="0"/>
          </a:p>
        </p:txBody>
      </p:sp>
      <p:sp>
        <p:nvSpPr>
          <p:cNvPr id="8" name="Shape 6"/>
          <p:cNvSpPr/>
          <p:nvPr/>
        </p:nvSpPr>
        <p:spPr>
          <a:xfrm>
            <a:off x="619110" y="1760835"/>
            <a:ext cx="3428914" cy="3095724"/>
          </a:xfrm>
          <a:prstGeom prst="rect">
            <a:avLst/>
          </a:prstGeom>
          <a:solidFill>
            <a:srgbClr val="285F56"/>
          </a:solidFill>
        </p:spPr>
      </p:sp>
      <p:sp>
        <p:nvSpPr>
          <p:cNvPr id="9" name="Text 7"/>
          <p:cNvSpPr/>
          <p:nvPr/>
        </p:nvSpPr>
        <p:spPr>
          <a:xfrm>
            <a:off x="803850" y="1900238"/>
            <a:ext cx="2933627" cy="1524000"/>
          </a:xfrm>
          <a:prstGeom prst="rect">
            <a:avLst/>
          </a:prstGeom>
          <a:noFill/>
        </p:spPr>
        <p:txBody>
          <a:bodyPr wrap="square" lIns="0" tIns="0" rIns="0" bIns="0" rtlCol="0" anchor="t">
            <a:normAutofit/>
          </a:bodyPr>
          <a:lstStyle/>
          <a:p>
            <a:pPr marL="0" indent="0" algn="l">
              <a:lnSpc>
                <a:spcPct val="100000"/>
              </a:lnSpc>
              <a:buNone/>
            </a:pPr>
            <a:r>
              <a:rPr lang="en-US" sz="20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xây dựng nền kinh tế chủ nghĩa xã hội với công nghiệp và nông nghiệp hiện đại, khoa học kỹ thuật tiên tiến.</a:t>
            </a:r>
            <a:endParaRPr lang="en-US" sz="2000" dirty="0"/>
          </a:p>
        </p:txBody>
      </p:sp>
      <p:sp>
        <p:nvSpPr>
          <p:cNvPr id="10" name="Shape 8"/>
          <p:cNvSpPr/>
          <p:nvPr/>
        </p:nvSpPr>
        <p:spPr>
          <a:xfrm>
            <a:off x="8000800" y="1760835"/>
            <a:ext cx="3571786" cy="3095724"/>
          </a:xfrm>
          <a:prstGeom prst="rect">
            <a:avLst/>
          </a:prstGeom>
          <a:solidFill>
            <a:srgbClr val="285F56"/>
          </a:solidFill>
        </p:spPr>
      </p:sp>
      <p:sp>
        <p:nvSpPr>
          <p:cNvPr id="11" name="Text 9"/>
          <p:cNvSpPr/>
          <p:nvPr/>
        </p:nvSpPr>
        <p:spPr>
          <a:xfrm>
            <a:off x="8197215" y="1924685"/>
            <a:ext cx="3121660" cy="2622550"/>
          </a:xfrm>
          <a:prstGeom prst="rect">
            <a:avLst/>
          </a:prstGeom>
          <a:noFill/>
        </p:spPr>
        <p:txBody>
          <a:bodyPr wrap="square" lIns="0" tIns="0" rIns="0" bIns="0" rtlCol="0" anchor="t">
            <a:normAutofit lnSpcReduction="20000"/>
          </a:bodyPr>
          <a:lstStyle/>
          <a:p>
            <a:pPr marL="0" indent="0" algn="l">
              <a:lnSpc>
                <a:spcPct val="110000"/>
              </a:lnSpc>
              <a:buNone/>
            </a:pPr>
            <a:r>
              <a:rPr lang="en-US" sz="20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Cần phát triển toàn diện các ngành, trong đó những ngành chủ yếu là công nghiệp, nông nghiệp, thương nghiệp, trong đó Công nghiệp và nông nghiệp là hai chân của nền kinh tế nước nhà</a:t>
            </a:r>
            <a:endParaRPr lang="en-US" sz="2000" dirty="0"/>
          </a:p>
        </p:txBody>
      </p:sp>
      <p:sp>
        <p:nvSpPr>
          <p:cNvPr id="12" name="Shape 10"/>
          <p:cNvSpPr/>
          <p:nvPr/>
        </p:nvSpPr>
        <p:spPr>
          <a:xfrm>
            <a:off x="4286143" y="1760835"/>
            <a:ext cx="3475744" cy="3095724"/>
          </a:xfrm>
          <a:prstGeom prst="rect">
            <a:avLst/>
          </a:prstGeom>
          <a:solidFill>
            <a:srgbClr val="8D292E"/>
          </a:solidFill>
        </p:spPr>
      </p:sp>
      <p:sp>
        <p:nvSpPr>
          <p:cNvPr id="13" name="Text 11"/>
          <p:cNvSpPr/>
          <p:nvPr/>
        </p:nvSpPr>
        <p:spPr>
          <a:xfrm>
            <a:off x="4477233" y="1878409"/>
            <a:ext cx="3036812" cy="1524000"/>
          </a:xfrm>
          <a:prstGeom prst="rect">
            <a:avLst/>
          </a:prstGeom>
          <a:noFill/>
        </p:spPr>
        <p:txBody>
          <a:bodyPr wrap="square" lIns="0" tIns="0" rIns="0" bIns="0" rtlCol="0" anchor="t">
            <a:normAutofit/>
          </a:bodyPr>
          <a:lstStyle/>
          <a:p>
            <a:pPr marL="0" indent="0" algn="l">
              <a:lnSpc>
                <a:spcPct val="100000"/>
              </a:lnSpc>
              <a:buNone/>
            </a:pPr>
            <a:r>
              <a:rPr lang="en-US" sz="20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Là một nền kinh tế thuần nhất, dựa trên chế độ sở hữu toàn dân và sở hữu tập thể"</a:t>
            </a:r>
            <a:endParaRPr lang="en-US" sz="2000" dirty="0"/>
          </a:p>
        </p:txBody>
      </p:sp>
      <p:sp>
        <p:nvSpPr>
          <p:cNvPr id="14" name="Shape 12"/>
          <p:cNvSpPr/>
          <p:nvPr/>
        </p:nvSpPr>
        <p:spPr>
          <a:xfrm>
            <a:off x="554321" y="5476974"/>
            <a:ext cx="11161731" cy="619125"/>
          </a:xfrm>
          <a:prstGeom prst="rect">
            <a:avLst/>
          </a:prstGeom>
          <a:solidFill>
            <a:srgbClr val="285F56"/>
          </a:solidFill>
        </p:spPr>
      </p:sp>
      <p:sp>
        <p:nvSpPr>
          <p:cNvPr id="15" name="Text 13"/>
          <p:cNvSpPr/>
          <p:nvPr/>
        </p:nvSpPr>
        <p:spPr>
          <a:xfrm>
            <a:off x="645600" y="5573216"/>
            <a:ext cx="11546095" cy="352425"/>
          </a:xfrm>
          <a:prstGeom prst="rect">
            <a:avLst/>
          </a:prstGeom>
          <a:noFill/>
        </p:spPr>
        <p:txBody>
          <a:bodyPr wrap="none" lIns="0" tIns="0" rIns="0" bIns="0" rtlCol="0" anchor="t"/>
          <a:lstStyle/>
          <a:p>
            <a:pPr marL="0" indent="0" algn="l">
              <a:lnSpc>
                <a:spcPct val="125000"/>
              </a:lnSpc>
              <a:buNone/>
            </a:pPr>
            <a:r>
              <a:rPr lang="en-US" sz="185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Chế độ chính trị của chủ nghĩa xã hội chỉ được đảm bảo và đứng vững trên cơ sở một nền kinh tế vững mạnh</a:t>
            </a:r>
            <a:endParaRPr lang="en-US" sz="1850" dirty="0"/>
          </a:p>
        </p:txBody>
      </p:sp>
      <p:pic>
        <p:nvPicPr>
          <p:cNvPr id="16" name="Image 0" descr="preencoded.png"/>
          <p:cNvPicPr>
            <a:picLocks noChangeAspect="1"/>
          </p:cNvPicPr>
          <p:nvPr/>
        </p:nvPicPr>
        <p:blipFill>
          <a:blip r:embed="rId1"/>
          <a:stretch>
            <a:fillRect/>
          </a:stretch>
        </p:blipFill>
        <p:spPr>
          <a:xfrm>
            <a:off x="11077000" y="6559252"/>
            <a:ext cx="1071833" cy="2559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381390" y="4410174"/>
            <a:ext cx="4429014" cy="666750"/>
          </a:xfrm>
          <a:prstGeom prst="rect">
            <a:avLst/>
          </a:prstGeom>
          <a:solidFill>
            <a:srgbClr val="285F56"/>
          </a:solidFill>
        </p:spPr>
      </p:sp>
      <p:sp>
        <p:nvSpPr>
          <p:cNvPr id="3" name="Text 1"/>
          <p:cNvSpPr/>
          <p:nvPr/>
        </p:nvSpPr>
        <p:spPr>
          <a:xfrm>
            <a:off x="4552836" y="4494212"/>
            <a:ext cx="3990875"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Đúng giờ, đúng hạn</a:t>
            </a:r>
            <a:endParaRPr lang="en-US" sz="2100" dirty="0"/>
          </a:p>
        </p:txBody>
      </p:sp>
      <p:sp>
        <p:nvSpPr>
          <p:cNvPr id="4" name="Shape 2"/>
          <p:cNvSpPr/>
          <p:nvPr/>
        </p:nvSpPr>
        <p:spPr>
          <a:xfrm>
            <a:off x="7095947" y="2047875"/>
            <a:ext cx="4429014" cy="762000"/>
          </a:xfrm>
          <a:prstGeom prst="rect">
            <a:avLst/>
          </a:prstGeom>
          <a:solidFill>
            <a:srgbClr val="285F56"/>
          </a:solidFill>
        </p:spPr>
      </p:sp>
      <p:sp>
        <p:nvSpPr>
          <p:cNvPr id="5" name="Text 3"/>
          <p:cNvSpPr/>
          <p:nvPr/>
        </p:nvSpPr>
        <p:spPr>
          <a:xfrm>
            <a:off x="7267393" y="2122488"/>
            <a:ext cx="3990875"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Tiết kiệm nguồn lực</a:t>
            </a:r>
            <a:endParaRPr lang="en-US" sz="2100" dirty="0"/>
          </a:p>
        </p:txBody>
      </p:sp>
      <p:sp>
        <p:nvSpPr>
          <p:cNvPr id="6" name="Shape 4"/>
          <p:cNvSpPr/>
          <p:nvPr/>
        </p:nvSpPr>
        <p:spPr>
          <a:xfrm>
            <a:off x="1428714" y="2047875"/>
            <a:ext cx="4571886" cy="762000"/>
          </a:xfrm>
          <a:prstGeom prst="rect">
            <a:avLst/>
          </a:prstGeom>
          <a:solidFill>
            <a:srgbClr val="285F56"/>
          </a:solidFill>
        </p:spPr>
      </p:sp>
      <p:sp>
        <p:nvSpPr>
          <p:cNvPr id="7" name="Text 5"/>
          <p:cNvSpPr/>
          <p:nvPr/>
        </p:nvSpPr>
        <p:spPr>
          <a:xfrm>
            <a:off x="1600160" y="2122488"/>
            <a:ext cx="5150813"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Học chắc chuyên môn chất lượng cao</a:t>
            </a:r>
            <a:endParaRPr lang="en-US" sz="2100" dirty="0"/>
          </a:p>
        </p:txBody>
      </p:sp>
      <p:pic>
        <p:nvPicPr>
          <p:cNvPr id="8" name="Image 0" descr="preencoded.png"/>
          <p:cNvPicPr>
            <a:picLocks noChangeAspect="1"/>
          </p:cNvPicPr>
          <p:nvPr/>
        </p:nvPicPr>
        <p:blipFill>
          <a:blip r:embed="rId1"/>
          <a:stretch>
            <a:fillRect/>
          </a:stretch>
        </p:blipFill>
        <p:spPr>
          <a:xfrm>
            <a:off x="6365716" y="2098675"/>
            <a:ext cx="365116" cy="574675"/>
          </a:xfrm>
          <a:prstGeom prst="rect">
            <a:avLst/>
          </a:prstGeom>
        </p:spPr>
      </p:pic>
      <p:sp>
        <p:nvSpPr>
          <p:cNvPr id="9" name="Shape 6"/>
          <p:cNvSpPr/>
          <p:nvPr/>
        </p:nvSpPr>
        <p:spPr>
          <a:xfrm>
            <a:off x="0" y="0"/>
            <a:ext cx="142871" cy="6858099"/>
          </a:xfrm>
          <a:prstGeom prst="rect">
            <a:avLst/>
          </a:prstGeom>
          <a:solidFill>
            <a:srgbClr val="8D292E"/>
          </a:solidFill>
        </p:spPr>
      </p:sp>
      <p:sp>
        <p:nvSpPr>
          <p:cNvPr id="10" name="Text 7"/>
          <p:cNvSpPr/>
          <p:nvPr/>
        </p:nvSpPr>
        <p:spPr>
          <a:xfrm>
            <a:off x="619110" y="249238"/>
            <a:ext cx="11448764" cy="247650"/>
          </a:xfrm>
          <a:prstGeom prst="rect">
            <a:avLst/>
          </a:prstGeom>
          <a:noFill/>
        </p:spPr>
        <p:txBody>
          <a:bodyPr wrap="none" lIns="0" tIns="0" rIns="0" bIns="0" rtlCol="0" anchor="t"/>
          <a:lstStyle/>
          <a:p>
            <a:pPr marL="0" indent="0" algn="l">
              <a:lnSpc>
                <a:spcPct val="125000"/>
              </a:lnSpc>
              <a:buNone/>
            </a:pPr>
            <a:r>
              <a:rPr lang="en-US" sz="130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02 · LIÊN HỆ SINH VIÊN</a:t>
            </a:r>
            <a:endParaRPr lang="en-US" sz="1300" dirty="0"/>
          </a:p>
        </p:txBody>
      </p:sp>
      <p:sp>
        <p:nvSpPr>
          <p:cNvPr id="11" name="Text 8"/>
          <p:cNvSpPr/>
          <p:nvPr/>
        </p:nvSpPr>
        <p:spPr>
          <a:xfrm>
            <a:off x="619110" y="706735"/>
            <a:ext cx="10896327" cy="457200"/>
          </a:xfrm>
          <a:prstGeom prst="rect">
            <a:avLst/>
          </a:prstGeom>
          <a:noFill/>
        </p:spPr>
        <p:txBody>
          <a:bodyPr wrap="none" lIns="0" tIns="0" rIns="0" bIns="0" rtlCol="0" anchor="t"/>
          <a:lstStyle/>
          <a:p>
            <a:pPr marL="0" indent="0" algn="l">
              <a:lnSpc>
                <a:spcPct val="100000"/>
              </a:lnSpc>
              <a:buNone/>
            </a:pPr>
            <a:r>
              <a:rPr lang="en-US" sz="3000" b="1" dirty="0">
                <a:solidFill>
                  <a:srgbClr val="222B2A"/>
                </a:solidFill>
                <a:latin typeface="Tinos Bold" panose="02020803070505020304" pitchFamily="34" charset="0"/>
                <a:ea typeface="Tinos Bold" panose="02020803070505020304" pitchFamily="34" charset="-122"/>
                <a:cs typeface="Tinos Bold" panose="02020803070505020304" pitchFamily="34" charset="-120"/>
              </a:rPr>
              <a:t>Trách nhiệm sinh viên với phát triển kinh tế</a:t>
            </a:r>
            <a:endParaRPr lang="en-US" sz="3000" dirty="0"/>
          </a:p>
        </p:txBody>
      </p:sp>
      <p:sp>
        <p:nvSpPr>
          <p:cNvPr id="12" name="Shape 9"/>
          <p:cNvSpPr/>
          <p:nvPr/>
        </p:nvSpPr>
        <p:spPr>
          <a:xfrm>
            <a:off x="619110" y="6429474"/>
            <a:ext cx="10953476" cy="19050"/>
          </a:xfrm>
          <a:prstGeom prst="rect">
            <a:avLst/>
          </a:prstGeom>
          <a:solidFill>
            <a:srgbClr val="DED6CA"/>
          </a:solidFill>
        </p:spPr>
      </p:sp>
      <p:sp>
        <p:nvSpPr>
          <p:cNvPr id="13" name="Text 10"/>
          <p:cNvSpPr/>
          <p:nvPr/>
        </p:nvSpPr>
        <p:spPr>
          <a:xfrm>
            <a:off x="619110" y="6501705"/>
            <a:ext cx="11448764" cy="161925"/>
          </a:xfrm>
          <a:prstGeom prst="rect">
            <a:avLst/>
          </a:prstGeom>
          <a:noFill/>
        </p:spPr>
        <p:txBody>
          <a:bodyPr wrap="none" lIns="0" tIns="0" rIns="0" bIns="0" rtlCol="0" anchor="t"/>
          <a:lstStyle/>
          <a:p>
            <a:pPr marL="0" indent="0" algn="l">
              <a:lnSpc>
                <a:spcPct val="125000"/>
              </a:lnSpc>
              <a:buNone/>
            </a:pPr>
            <a:r>
              <a:rPr lang="en-US" sz="850" dirty="0">
                <a:solidFill>
                  <a:srgbClr val="66706A"/>
                </a:solidFill>
                <a:latin typeface="Tinos" panose="02020603050405020304" pitchFamily="34" charset="0"/>
                <a:ea typeface="Tinos" panose="02020603050405020304" pitchFamily="34" charset="-122"/>
                <a:cs typeface="Tinos" panose="02020603050405020304" pitchFamily="34" charset="-120"/>
              </a:rPr>
              <a:t>TƯ TƯỞNG HỒ CHÍ MINH · VẬN DỤNG TRONG ĐỜI SỐNG SINH VIÊN</a:t>
            </a:r>
            <a:endParaRPr lang="en-US" sz="850" dirty="0"/>
          </a:p>
        </p:txBody>
      </p:sp>
      <p:sp>
        <p:nvSpPr>
          <p:cNvPr id="14" name="Text 11"/>
          <p:cNvSpPr/>
          <p:nvPr/>
        </p:nvSpPr>
        <p:spPr>
          <a:xfrm>
            <a:off x="11048724" y="6474321"/>
            <a:ext cx="1142971" cy="219075"/>
          </a:xfrm>
          <a:prstGeom prst="rect">
            <a:avLst/>
          </a:prstGeom>
          <a:noFill/>
        </p:spPr>
        <p:txBody>
          <a:bodyPr wrap="none" lIns="0" tIns="0" rIns="0" bIns="0" rtlCol="0" anchor="t"/>
          <a:lstStyle/>
          <a:p>
            <a:pPr marL="0" indent="0" algn="l">
              <a:lnSpc>
                <a:spcPct val="125000"/>
              </a:lnSpc>
              <a:buNone/>
            </a:pPr>
            <a:r>
              <a:rPr lang="en-US" sz="11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05</a:t>
            </a:r>
            <a:endParaRPr lang="en-US" sz="1150" dirty="0"/>
          </a:p>
        </p:txBody>
      </p:sp>
      <p:sp>
        <p:nvSpPr>
          <p:cNvPr id="15" name="Text 12"/>
          <p:cNvSpPr/>
          <p:nvPr/>
        </p:nvSpPr>
        <p:spPr>
          <a:xfrm>
            <a:off x="1600160" y="2936180"/>
            <a:ext cx="4086123" cy="914400"/>
          </a:xfrm>
          <a:prstGeom prst="rect">
            <a:avLst/>
          </a:prstGeom>
          <a:noFill/>
        </p:spPr>
        <p:txBody>
          <a:bodyPr wrap="square" lIns="0" tIns="0" rIns="0" bIns="0" rtlCol="0" anchor="t">
            <a:normAutofit/>
          </a:bodyPr>
          <a:lstStyle/>
          <a:p>
            <a:pPr marL="0" indent="0" algn="l">
              <a:lnSpc>
                <a:spcPct val="100000"/>
              </a:lnSpc>
              <a:buNone/>
            </a:pPr>
            <a:r>
              <a:rPr lang="en-US" sz="2000" dirty="0">
                <a:solidFill>
                  <a:srgbClr val="222B2A"/>
                </a:solidFill>
                <a:latin typeface="Tinos" panose="02020603050405020304" pitchFamily="34" charset="0"/>
                <a:ea typeface="Tinos" panose="02020603050405020304" pitchFamily="34" charset="-122"/>
                <a:cs typeface="Tinos" panose="02020603050405020304" pitchFamily="34" charset="-120"/>
              </a:rPr>
              <a:t>Làm bài tập có ứng dụng</a:t>
            </a:r>
            <a:endParaRPr lang="en-US" sz="2000" dirty="0"/>
          </a:p>
          <a:p>
            <a:pPr marL="0" indent="0" algn="l">
              <a:lnSpc>
                <a:spcPct val="100000"/>
              </a:lnSpc>
              <a:buNone/>
            </a:pPr>
            <a:r>
              <a:rPr lang="en-US" sz="2000" dirty="0">
                <a:solidFill>
                  <a:srgbClr val="222B2A"/>
                </a:solidFill>
                <a:latin typeface="Tinos" panose="02020603050405020304" pitchFamily="34" charset="0"/>
                <a:ea typeface="Tinos" panose="02020603050405020304" pitchFamily="34" charset="-122"/>
                <a:cs typeface="Tinos" panose="02020603050405020304" pitchFamily="34" charset="-120"/>
              </a:rPr>
              <a:t>Tích cực tham gia các dự án nghiên cứu khoa học</a:t>
            </a:r>
            <a:endParaRPr lang="en-US" sz="2000" dirty="0"/>
          </a:p>
        </p:txBody>
      </p:sp>
      <p:sp>
        <p:nvSpPr>
          <p:cNvPr id="16" name="Text 13"/>
          <p:cNvSpPr/>
          <p:nvPr/>
        </p:nvSpPr>
        <p:spPr>
          <a:xfrm>
            <a:off x="4552836" y="5165030"/>
            <a:ext cx="4048024" cy="609600"/>
          </a:xfrm>
          <a:prstGeom prst="rect">
            <a:avLst/>
          </a:prstGeom>
          <a:noFill/>
        </p:spPr>
        <p:txBody>
          <a:bodyPr wrap="square" lIns="0" tIns="0" rIns="0" bIns="0" rtlCol="0" anchor="t">
            <a:normAutofit/>
          </a:bodyPr>
          <a:lstStyle/>
          <a:p>
            <a:pPr marL="0" indent="0" algn="l">
              <a:lnSpc>
                <a:spcPct val="100000"/>
              </a:lnSpc>
              <a:buNone/>
            </a:pPr>
            <a:r>
              <a:rPr lang="en-US" sz="2000" dirty="0">
                <a:solidFill>
                  <a:srgbClr val="222B2A"/>
                </a:solidFill>
                <a:latin typeface="Tinos" panose="02020603050405020304" pitchFamily="34" charset="0"/>
                <a:ea typeface="Tinos" panose="02020603050405020304" pitchFamily="34" charset="-122"/>
                <a:cs typeface="Tinos" panose="02020603050405020304" pitchFamily="34" charset="-120"/>
              </a:rPr>
              <a:t>Lập kế hoạch theo từng tuần</a:t>
            </a:r>
            <a:endParaRPr lang="en-US" sz="2000" dirty="0"/>
          </a:p>
          <a:p>
            <a:pPr marL="0" indent="0" algn="l">
              <a:lnSpc>
                <a:spcPct val="100000"/>
              </a:lnSpc>
              <a:buNone/>
            </a:pPr>
            <a:r>
              <a:rPr lang="en-US" sz="2000" dirty="0">
                <a:solidFill>
                  <a:srgbClr val="222B2A"/>
                </a:solidFill>
                <a:latin typeface="Tinos" panose="02020603050405020304" pitchFamily="34" charset="0"/>
                <a:ea typeface="Tinos" panose="02020603050405020304" pitchFamily="34" charset="-122"/>
                <a:cs typeface="Tinos" panose="02020603050405020304" pitchFamily="34" charset="-120"/>
              </a:rPr>
              <a:t>Tác phong nghiêm túc </a:t>
            </a:r>
            <a:endParaRPr lang="en-US" sz="2000" dirty="0"/>
          </a:p>
        </p:txBody>
      </p:sp>
      <p:sp>
        <p:nvSpPr>
          <p:cNvPr id="17" name="Text 14"/>
          <p:cNvSpPr/>
          <p:nvPr/>
        </p:nvSpPr>
        <p:spPr>
          <a:xfrm>
            <a:off x="7267393" y="2936180"/>
            <a:ext cx="3990875" cy="914400"/>
          </a:xfrm>
          <a:prstGeom prst="rect">
            <a:avLst/>
          </a:prstGeom>
          <a:noFill/>
        </p:spPr>
        <p:txBody>
          <a:bodyPr wrap="square" lIns="0" tIns="0" rIns="0" bIns="0" rtlCol="0" anchor="t">
            <a:normAutofit/>
          </a:bodyPr>
          <a:lstStyle/>
          <a:p>
            <a:pPr marL="0" indent="0" algn="l">
              <a:lnSpc>
                <a:spcPct val="100000"/>
              </a:lnSpc>
              <a:buNone/>
            </a:pPr>
            <a:r>
              <a:rPr lang="en-US" sz="2000" dirty="0">
                <a:solidFill>
                  <a:srgbClr val="222B2A"/>
                </a:solidFill>
                <a:latin typeface="Tinos" panose="02020603050405020304" pitchFamily="34" charset="0"/>
                <a:ea typeface="Tinos" panose="02020603050405020304" pitchFamily="34" charset="-122"/>
                <a:cs typeface="Tinos" panose="02020603050405020304" pitchFamily="34" charset="-120"/>
              </a:rPr>
              <a:t>Có ý thức tắt đèn, quạt, điều hòa khi ra khỏi giảng đường</a:t>
            </a:r>
            <a:endParaRPr lang="en-US" sz="2000" dirty="0"/>
          </a:p>
          <a:p>
            <a:pPr marL="0" indent="0" algn="l">
              <a:lnSpc>
                <a:spcPct val="100000"/>
              </a:lnSpc>
              <a:buNone/>
            </a:pPr>
            <a:r>
              <a:rPr lang="en-US" sz="2000" dirty="0">
                <a:solidFill>
                  <a:srgbClr val="222B2A"/>
                </a:solidFill>
                <a:latin typeface="Tinos" panose="02020603050405020304" pitchFamily="34" charset="0"/>
                <a:ea typeface="Tinos" panose="02020603050405020304" pitchFamily="34" charset="-122"/>
                <a:cs typeface="Tinos" panose="02020603050405020304" pitchFamily="34" charset="-120"/>
              </a:rPr>
              <a:t>Không lãng phí thức ăn, nước uống</a:t>
            </a:r>
            <a:endParaRPr lang="en-US" sz="2000" dirty="0"/>
          </a:p>
        </p:txBody>
      </p:sp>
      <p:pic>
        <p:nvPicPr>
          <p:cNvPr id="18" name="Image 1" descr="preencoded.png"/>
          <p:cNvPicPr>
            <a:picLocks noChangeAspect="1"/>
          </p:cNvPicPr>
          <p:nvPr/>
        </p:nvPicPr>
        <p:blipFill>
          <a:blip r:embed="rId2"/>
          <a:stretch>
            <a:fillRect/>
          </a:stretch>
        </p:blipFill>
        <p:spPr>
          <a:xfrm>
            <a:off x="619110" y="2076450"/>
            <a:ext cx="619110" cy="619125"/>
          </a:xfrm>
          <a:prstGeom prst="rect">
            <a:avLst/>
          </a:prstGeom>
        </p:spPr>
      </p:pic>
      <p:pic>
        <p:nvPicPr>
          <p:cNvPr id="19" name="Image 2" descr="preencoded.png"/>
          <p:cNvPicPr>
            <a:picLocks noChangeAspect="1"/>
          </p:cNvPicPr>
          <p:nvPr/>
        </p:nvPicPr>
        <p:blipFill>
          <a:blip r:embed="rId3"/>
          <a:stretch>
            <a:fillRect/>
          </a:stretch>
        </p:blipFill>
        <p:spPr>
          <a:xfrm>
            <a:off x="3524162" y="4438749"/>
            <a:ext cx="619110" cy="619125"/>
          </a:xfrm>
          <a:prstGeom prst="rect">
            <a:avLst/>
          </a:prstGeom>
        </p:spPr>
      </p:pic>
      <p:pic>
        <p:nvPicPr>
          <p:cNvPr id="20" name="Image 3" descr="preencoded.png"/>
          <p:cNvPicPr>
            <a:picLocks noChangeAspect="1"/>
          </p:cNvPicPr>
          <p:nvPr/>
        </p:nvPicPr>
        <p:blipFill>
          <a:blip r:embed="rId4"/>
          <a:stretch>
            <a:fillRect/>
          </a:stretch>
        </p:blipFill>
        <p:spPr>
          <a:xfrm>
            <a:off x="11077000" y="6559252"/>
            <a:ext cx="1071833" cy="2559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2871" cy="6858099"/>
          </a:xfrm>
          <a:prstGeom prst="rect">
            <a:avLst/>
          </a:prstGeom>
          <a:solidFill>
            <a:srgbClr val="8D292E"/>
          </a:solidFill>
        </p:spPr>
      </p:sp>
      <p:sp>
        <p:nvSpPr>
          <p:cNvPr id="3" name="Text 1"/>
          <p:cNvSpPr/>
          <p:nvPr/>
        </p:nvSpPr>
        <p:spPr>
          <a:xfrm>
            <a:off x="619110" y="247948"/>
            <a:ext cx="11087021" cy="257175"/>
          </a:xfrm>
          <a:prstGeom prst="rect">
            <a:avLst/>
          </a:prstGeom>
          <a:noFill/>
        </p:spPr>
        <p:txBody>
          <a:bodyPr wrap="none" lIns="0" tIns="0" rIns="0" bIns="0" rtlCol="0" anchor="t"/>
          <a:lstStyle/>
          <a:p>
            <a:pPr marL="0" indent="0" algn="l">
              <a:lnSpc>
                <a:spcPct val="125000"/>
              </a:lnSpc>
              <a:buNone/>
            </a:pPr>
            <a:r>
              <a:rPr lang="en-US" sz="13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03 · KHOA HỌC, KỸ THUẬT</a:t>
            </a:r>
            <a:endParaRPr lang="en-US" sz="1350" dirty="0"/>
          </a:p>
        </p:txBody>
      </p:sp>
      <p:sp>
        <p:nvSpPr>
          <p:cNvPr id="4" name="Text 2"/>
          <p:cNvSpPr/>
          <p:nvPr/>
        </p:nvSpPr>
        <p:spPr>
          <a:xfrm>
            <a:off x="619110" y="725785"/>
            <a:ext cx="10953674" cy="457200"/>
          </a:xfrm>
          <a:prstGeom prst="rect">
            <a:avLst/>
          </a:prstGeom>
          <a:noFill/>
        </p:spPr>
        <p:txBody>
          <a:bodyPr wrap="none" lIns="0" tIns="0" rIns="0" bIns="0" rtlCol="0" anchor="t"/>
          <a:lstStyle/>
          <a:p>
            <a:pPr marL="0" indent="0" algn="l">
              <a:lnSpc>
                <a:spcPct val="100000"/>
              </a:lnSpc>
              <a:buNone/>
            </a:pPr>
            <a:r>
              <a:rPr lang="en-US" sz="3000" b="1" dirty="0">
                <a:solidFill>
                  <a:srgbClr val="222B2A"/>
                </a:solidFill>
                <a:latin typeface="Tinos Bold" panose="02020803070505020304" pitchFamily="34" charset="0"/>
                <a:ea typeface="Tinos Bold" panose="02020803070505020304" pitchFamily="34" charset="-122"/>
                <a:cs typeface="Tinos Bold" panose="02020803070505020304" pitchFamily="34" charset="-120"/>
              </a:rPr>
              <a:t>Mục tiêu phát triển khoa học – kỹ thuật</a:t>
            </a:r>
            <a:endParaRPr lang="en-US" sz="3000" dirty="0"/>
          </a:p>
        </p:txBody>
      </p:sp>
      <p:sp>
        <p:nvSpPr>
          <p:cNvPr id="5" name="Shape 3"/>
          <p:cNvSpPr/>
          <p:nvPr/>
        </p:nvSpPr>
        <p:spPr>
          <a:xfrm>
            <a:off x="619110" y="6429474"/>
            <a:ext cx="10953674" cy="19050"/>
          </a:xfrm>
          <a:prstGeom prst="rect">
            <a:avLst/>
          </a:prstGeom>
          <a:solidFill>
            <a:srgbClr val="DED6CA"/>
          </a:solidFill>
        </p:spPr>
      </p:sp>
      <p:sp>
        <p:nvSpPr>
          <p:cNvPr id="6" name="Text 4"/>
          <p:cNvSpPr/>
          <p:nvPr/>
        </p:nvSpPr>
        <p:spPr>
          <a:xfrm>
            <a:off x="619110" y="6511131"/>
            <a:ext cx="10896526" cy="158055"/>
          </a:xfrm>
          <a:prstGeom prst="rect">
            <a:avLst/>
          </a:prstGeom>
          <a:noFill/>
        </p:spPr>
        <p:txBody>
          <a:bodyPr wrap="none" lIns="0" tIns="0" rIns="0" bIns="0" rtlCol="0" anchor="t"/>
          <a:lstStyle/>
          <a:p>
            <a:pPr marL="0" indent="0" algn="l">
              <a:lnSpc>
                <a:spcPct val="125000"/>
              </a:lnSpc>
              <a:buNone/>
            </a:pPr>
            <a:r>
              <a:rPr lang="en-US" sz="850" dirty="0">
                <a:solidFill>
                  <a:srgbClr val="66706A"/>
                </a:solidFill>
                <a:latin typeface="Tinos" panose="02020603050405020304" pitchFamily="34" charset="0"/>
                <a:ea typeface="Tinos" panose="02020603050405020304" pitchFamily="34" charset="-122"/>
                <a:cs typeface="Tinos" panose="02020603050405020304" pitchFamily="34" charset="-120"/>
              </a:rPr>
              <a:t>TƯ TƯỞNG HỒ CHÍ MINH · VẬN DỤNG TRONG ĐỜI SỐNG SINH VIÊN</a:t>
            </a:r>
            <a:endParaRPr lang="en-US" sz="850" dirty="0"/>
          </a:p>
        </p:txBody>
      </p:sp>
      <p:sp>
        <p:nvSpPr>
          <p:cNvPr id="7" name="Text 5"/>
          <p:cNvSpPr/>
          <p:nvPr/>
        </p:nvSpPr>
        <p:spPr>
          <a:xfrm>
            <a:off x="11048922" y="6474321"/>
            <a:ext cx="1133447" cy="215205"/>
          </a:xfrm>
          <a:prstGeom prst="rect">
            <a:avLst/>
          </a:prstGeom>
          <a:noFill/>
        </p:spPr>
        <p:txBody>
          <a:bodyPr wrap="none" lIns="0" tIns="0" rIns="0" bIns="0" rtlCol="0" anchor="t"/>
          <a:lstStyle/>
          <a:p>
            <a:pPr marL="0" indent="0" algn="l">
              <a:lnSpc>
                <a:spcPct val="125000"/>
              </a:lnSpc>
              <a:buNone/>
            </a:pPr>
            <a:r>
              <a:rPr lang="en-US" sz="11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06</a:t>
            </a:r>
            <a:endParaRPr lang="en-US" sz="1150" dirty="0"/>
          </a:p>
        </p:txBody>
      </p:sp>
      <p:sp>
        <p:nvSpPr>
          <p:cNvPr id="8" name="Text 6"/>
          <p:cNvSpPr/>
          <p:nvPr/>
        </p:nvSpPr>
        <p:spPr>
          <a:xfrm>
            <a:off x="619110" y="1844278"/>
            <a:ext cx="10896526" cy="664369"/>
          </a:xfrm>
          <a:prstGeom prst="rect">
            <a:avLst/>
          </a:prstGeom>
          <a:noFill/>
        </p:spPr>
        <p:txBody>
          <a:bodyPr wrap="square" lIns="0" tIns="0" rIns="0" bIns="0" rtlCol="0" anchor="t">
            <a:normAutofit/>
          </a:bodyPr>
          <a:lstStyle/>
          <a:p>
            <a:pPr marL="0" indent="0" algn="l">
              <a:lnSpc>
                <a:spcPct val="100000"/>
              </a:lnSpc>
              <a:buNone/>
            </a:pPr>
            <a:r>
              <a:rPr lang="en-US" sz="2200" b="1" dirty="0">
                <a:solidFill>
                  <a:srgbClr val="285F56"/>
                </a:solidFill>
                <a:latin typeface="Tinos Bold" panose="02020803070505020304" pitchFamily="34" charset="0"/>
                <a:ea typeface="Tinos Bold" panose="02020803070505020304" pitchFamily="34" charset="-122"/>
                <a:cs typeface="Tinos Bold" panose="02020803070505020304" pitchFamily="34" charset="-120"/>
              </a:rPr>
              <a:t>Khoa học – kỹ thuật giúp giải phóng sức lao động, nâng cao năng suất và cải thiện đời sống nhân dân.</a:t>
            </a:r>
            <a:endParaRPr lang="en-US" sz="2200" dirty="0"/>
          </a:p>
        </p:txBody>
      </p:sp>
      <p:sp>
        <p:nvSpPr>
          <p:cNvPr id="9" name="Shape 7"/>
          <p:cNvSpPr/>
          <p:nvPr/>
        </p:nvSpPr>
        <p:spPr>
          <a:xfrm>
            <a:off x="619110" y="3143349"/>
            <a:ext cx="3476439" cy="619026"/>
          </a:xfrm>
          <a:prstGeom prst="rect">
            <a:avLst/>
          </a:prstGeom>
          <a:solidFill>
            <a:srgbClr val="285F56"/>
          </a:solidFill>
        </p:spPr>
      </p:sp>
      <p:sp>
        <p:nvSpPr>
          <p:cNvPr id="10" name="Text 8"/>
          <p:cNvSpPr/>
          <p:nvPr/>
        </p:nvSpPr>
        <p:spPr>
          <a:xfrm>
            <a:off x="790456" y="3286125"/>
            <a:ext cx="3133547"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Phục vụ sản xuất</a:t>
            </a:r>
            <a:endParaRPr lang="en-US" sz="2100" dirty="0"/>
          </a:p>
        </p:txBody>
      </p:sp>
      <p:sp>
        <p:nvSpPr>
          <p:cNvPr id="11" name="Text 9"/>
          <p:cNvSpPr/>
          <p:nvPr/>
        </p:nvSpPr>
        <p:spPr>
          <a:xfrm>
            <a:off x="619110" y="3944045"/>
            <a:ext cx="3316800" cy="914400"/>
          </a:xfrm>
          <a:prstGeom prst="rect">
            <a:avLst/>
          </a:prstGeom>
          <a:noFill/>
        </p:spPr>
        <p:txBody>
          <a:bodyPr wrap="square" lIns="0" tIns="0" rIns="0" bIns="0" rtlCol="0" anchor="t">
            <a:normAutofit/>
          </a:bodyPr>
          <a:lstStyle/>
          <a:p>
            <a:pPr marL="0" indent="0" algn="l">
              <a:lnSpc>
                <a:spcPct val="100000"/>
              </a:lnSpc>
              <a:buNone/>
            </a:pPr>
            <a:r>
              <a:rPr lang="en-US" sz="1500" dirty="0">
                <a:solidFill>
                  <a:srgbClr val="222B2A"/>
                </a:solidFill>
                <a:latin typeface="Tinos" panose="02020603050405020304" pitchFamily="34" charset="0"/>
                <a:ea typeface="Tinos" panose="02020603050405020304" pitchFamily="34" charset="-122"/>
                <a:cs typeface="Tinos" panose="02020603050405020304" pitchFamily="34" charset="-120"/>
              </a:rPr>
              <a:t>Khoa học phải phục vụ sản xuất: ứng dụng tri thức để giải quyết vấn đề thực tế, tăng năng suất lao động và tạo ra kết quả có ích cho xã hội.</a:t>
            </a:r>
            <a:endParaRPr lang="en-US" sz="1500" dirty="0"/>
          </a:p>
        </p:txBody>
      </p:sp>
      <p:sp>
        <p:nvSpPr>
          <p:cNvPr id="12" name="Shape 10"/>
          <p:cNvSpPr/>
          <p:nvPr/>
        </p:nvSpPr>
        <p:spPr>
          <a:xfrm>
            <a:off x="4333767" y="3143349"/>
            <a:ext cx="3476538" cy="619026"/>
          </a:xfrm>
          <a:prstGeom prst="rect">
            <a:avLst/>
          </a:prstGeom>
          <a:solidFill>
            <a:srgbClr val="285F56"/>
          </a:solidFill>
        </p:spPr>
      </p:sp>
      <p:sp>
        <p:nvSpPr>
          <p:cNvPr id="13" name="Text 11"/>
          <p:cNvSpPr/>
          <p:nvPr/>
        </p:nvSpPr>
        <p:spPr>
          <a:xfrm>
            <a:off x="4505212" y="3286125"/>
            <a:ext cx="3133746"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Phụng sự con người</a:t>
            </a:r>
            <a:endParaRPr lang="en-US" sz="2100" dirty="0"/>
          </a:p>
        </p:txBody>
      </p:sp>
      <p:sp>
        <p:nvSpPr>
          <p:cNvPr id="14" name="Text 12"/>
          <p:cNvSpPr/>
          <p:nvPr/>
        </p:nvSpPr>
        <p:spPr>
          <a:xfrm>
            <a:off x="4333767" y="3944045"/>
            <a:ext cx="3316899" cy="914400"/>
          </a:xfrm>
          <a:prstGeom prst="rect">
            <a:avLst/>
          </a:prstGeom>
          <a:noFill/>
        </p:spPr>
        <p:txBody>
          <a:bodyPr wrap="square" lIns="0" tIns="0" rIns="0" bIns="0" rtlCol="0" anchor="t">
            <a:normAutofit/>
          </a:bodyPr>
          <a:lstStyle/>
          <a:p>
            <a:pPr marL="0" indent="0" algn="l">
              <a:lnSpc>
                <a:spcPct val="100000"/>
              </a:lnSpc>
              <a:buNone/>
            </a:pPr>
            <a:r>
              <a:rPr lang="en-US" sz="1500" dirty="0">
                <a:solidFill>
                  <a:srgbClr val="222B2A"/>
                </a:solidFill>
                <a:latin typeface="Tinos" panose="02020603050405020304" pitchFamily="34" charset="0"/>
                <a:ea typeface="Tinos" panose="02020603050405020304" pitchFamily="34" charset="-122"/>
                <a:cs typeface="Tinos" panose="02020603050405020304" pitchFamily="34" charset="-120"/>
              </a:rPr>
              <a:t>Khoa học phải phục vụ quần chúng và con người: gắn tiến bộ kỹ thuật với đạo đức, công bằng và lợi ích chung của cộng đồng, không vì lợi nhuận riêng.</a:t>
            </a:r>
            <a:endParaRPr lang="en-US" sz="1500" dirty="0"/>
          </a:p>
        </p:txBody>
      </p:sp>
      <p:sp>
        <p:nvSpPr>
          <p:cNvPr id="15" name="Shape 13"/>
          <p:cNvSpPr/>
          <p:nvPr/>
        </p:nvSpPr>
        <p:spPr>
          <a:xfrm>
            <a:off x="8048622" y="3143349"/>
            <a:ext cx="3476538" cy="619026"/>
          </a:xfrm>
          <a:prstGeom prst="rect">
            <a:avLst/>
          </a:prstGeom>
          <a:solidFill>
            <a:srgbClr val="285F56"/>
          </a:solidFill>
        </p:spPr>
      </p:sp>
      <p:sp>
        <p:nvSpPr>
          <p:cNvPr id="16" name="Text 14"/>
          <p:cNvSpPr/>
          <p:nvPr/>
        </p:nvSpPr>
        <p:spPr>
          <a:xfrm>
            <a:off x="8219969" y="3286125"/>
            <a:ext cx="3133647"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Học đi đôi với hành</a:t>
            </a:r>
            <a:endParaRPr lang="en-US" sz="2100" dirty="0"/>
          </a:p>
        </p:txBody>
      </p:sp>
      <p:sp>
        <p:nvSpPr>
          <p:cNvPr id="17" name="Text 15"/>
          <p:cNvSpPr/>
          <p:nvPr/>
        </p:nvSpPr>
        <p:spPr>
          <a:xfrm>
            <a:off x="8048622" y="3944045"/>
            <a:ext cx="3316899" cy="685800"/>
          </a:xfrm>
          <a:prstGeom prst="rect">
            <a:avLst/>
          </a:prstGeom>
          <a:noFill/>
        </p:spPr>
        <p:txBody>
          <a:bodyPr wrap="square" lIns="0" tIns="0" rIns="0" bIns="0" rtlCol="0" anchor="t">
            <a:normAutofit/>
          </a:bodyPr>
          <a:lstStyle/>
          <a:p>
            <a:pPr marL="0" indent="0" algn="l">
              <a:lnSpc>
                <a:spcPct val="100000"/>
              </a:lnSpc>
              <a:buNone/>
            </a:pPr>
            <a:r>
              <a:rPr lang="en-US" sz="1500" dirty="0">
                <a:solidFill>
                  <a:srgbClr val="222B2A"/>
                </a:solidFill>
                <a:latin typeface="Tinos" panose="02020603050405020304" pitchFamily="34" charset="0"/>
                <a:ea typeface="Tinos" panose="02020603050405020304" pitchFamily="34" charset="-122"/>
                <a:cs typeface="Tinos" panose="02020603050405020304" pitchFamily="34" charset="-120"/>
              </a:rPr>
              <a:t>Học đi đôi với hành: hiểu nguyên lý, làm thử và tự kiểm tra kết quả; tránh học thuộc lòng, học hình thức.</a:t>
            </a:r>
            <a:endParaRPr lang="en-US" sz="1500" dirty="0"/>
          </a:p>
        </p:txBody>
      </p:sp>
      <p:sp>
        <p:nvSpPr>
          <p:cNvPr id="18" name="Shape 16"/>
          <p:cNvSpPr/>
          <p:nvPr/>
        </p:nvSpPr>
        <p:spPr>
          <a:xfrm>
            <a:off x="619110" y="5572224"/>
            <a:ext cx="10953674" cy="619125"/>
          </a:xfrm>
          <a:prstGeom prst="rect">
            <a:avLst/>
          </a:prstGeom>
          <a:solidFill>
            <a:srgbClr val="285F56"/>
          </a:solidFill>
        </p:spPr>
      </p:sp>
      <p:sp>
        <p:nvSpPr>
          <p:cNvPr id="19" name="Text 17"/>
          <p:cNvSpPr/>
          <p:nvPr/>
        </p:nvSpPr>
        <p:spPr>
          <a:xfrm>
            <a:off x="809605" y="5681762"/>
            <a:ext cx="11182269" cy="358080"/>
          </a:xfrm>
          <a:prstGeom prst="rect">
            <a:avLst/>
          </a:prstGeom>
          <a:noFill/>
        </p:spPr>
        <p:txBody>
          <a:bodyPr wrap="none" lIns="0" tIns="0" rIns="0" bIns="0" rtlCol="0" anchor="t"/>
          <a:lstStyle/>
          <a:p>
            <a:pPr marL="0" indent="0" algn="l">
              <a:lnSpc>
                <a:spcPct val="125000"/>
              </a:lnSpc>
              <a:buNone/>
            </a:pPr>
            <a:r>
              <a:rPr lang="en-US" sz="19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Liên hệ sinh viên: làm chủ công nghệ để tạo ra sản phẩm có ích</a:t>
            </a:r>
            <a:endParaRPr lang="en-US" sz="1900" dirty="0"/>
          </a:p>
        </p:txBody>
      </p:sp>
      <p:pic>
        <p:nvPicPr>
          <p:cNvPr id="20" name="Image 0" descr="preencoded.png"/>
          <p:cNvPicPr>
            <a:picLocks noChangeAspect="1"/>
          </p:cNvPicPr>
          <p:nvPr/>
        </p:nvPicPr>
        <p:blipFill>
          <a:blip r:embed="rId1"/>
          <a:stretch>
            <a:fillRect/>
          </a:stretch>
        </p:blipFill>
        <p:spPr>
          <a:xfrm>
            <a:off x="11077000" y="6559252"/>
            <a:ext cx="1071833" cy="2559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2871" cy="6858099"/>
          </a:xfrm>
          <a:prstGeom prst="rect">
            <a:avLst/>
          </a:prstGeom>
          <a:solidFill>
            <a:srgbClr val="8D292E"/>
          </a:solidFill>
        </p:spPr>
      </p:sp>
      <p:sp>
        <p:nvSpPr>
          <p:cNvPr id="3" name="Text 1"/>
          <p:cNvSpPr/>
          <p:nvPr/>
        </p:nvSpPr>
        <p:spPr>
          <a:xfrm>
            <a:off x="619110" y="247948"/>
            <a:ext cx="11087021" cy="257175"/>
          </a:xfrm>
          <a:prstGeom prst="rect">
            <a:avLst/>
          </a:prstGeom>
          <a:noFill/>
        </p:spPr>
        <p:txBody>
          <a:bodyPr wrap="none" lIns="0" tIns="0" rIns="0" bIns="0" rtlCol="0" anchor="t"/>
          <a:lstStyle/>
          <a:p>
            <a:pPr marL="0" indent="0" algn="l">
              <a:lnSpc>
                <a:spcPct val="125000"/>
              </a:lnSpc>
              <a:buNone/>
            </a:pPr>
            <a:r>
              <a:rPr lang="en-US" sz="13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03 · AI CÓ TRÁCH NHIỆM</a:t>
            </a:r>
            <a:endParaRPr lang="en-US" sz="1350" dirty="0"/>
          </a:p>
        </p:txBody>
      </p:sp>
      <p:sp>
        <p:nvSpPr>
          <p:cNvPr id="4" name="Text 2"/>
          <p:cNvSpPr/>
          <p:nvPr/>
        </p:nvSpPr>
        <p:spPr>
          <a:xfrm>
            <a:off x="619110" y="725785"/>
            <a:ext cx="10953674" cy="457200"/>
          </a:xfrm>
          <a:prstGeom prst="rect">
            <a:avLst/>
          </a:prstGeom>
          <a:noFill/>
        </p:spPr>
        <p:txBody>
          <a:bodyPr wrap="none" lIns="0" tIns="0" rIns="0" bIns="0" rtlCol="0" anchor="t"/>
          <a:lstStyle/>
          <a:p>
            <a:pPr marL="0" indent="0" algn="l">
              <a:lnSpc>
                <a:spcPct val="100000"/>
              </a:lnSpc>
              <a:buNone/>
            </a:pPr>
            <a:r>
              <a:rPr lang="en-US" sz="3000" b="1" dirty="0">
                <a:solidFill>
                  <a:srgbClr val="222B2A"/>
                </a:solidFill>
                <a:latin typeface="Tinos Bold" panose="02020803070505020304" pitchFamily="34" charset="0"/>
                <a:ea typeface="Tinos Bold" panose="02020803070505020304" pitchFamily="34" charset="-122"/>
                <a:cs typeface="Tinos Bold" panose="02020803070505020304" pitchFamily="34" charset="-120"/>
              </a:rPr>
              <a:t>Sinh viên sử dụng AI có trách nhiệm</a:t>
            </a:r>
            <a:endParaRPr lang="en-US" sz="3000" dirty="0"/>
          </a:p>
        </p:txBody>
      </p:sp>
      <p:sp>
        <p:nvSpPr>
          <p:cNvPr id="5" name="Shape 3"/>
          <p:cNvSpPr/>
          <p:nvPr/>
        </p:nvSpPr>
        <p:spPr>
          <a:xfrm>
            <a:off x="619110" y="6429474"/>
            <a:ext cx="10953674" cy="19050"/>
          </a:xfrm>
          <a:prstGeom prst="rect">
            <a:avLst/>
          </a:prstGeom>
          <a:solidFill>
            <a:srgbClr val="DED6CA"/>
          </a:solidFill>
        </p:spPr>
      </p:sp>
      <p:sp>
        <p:nvSpPr>
          <p:cNvPr id="6" name="Text 4"/>
          <p:cNvSpPr/>
          <p:nvPr/>
        </p:nvSpPr>
        <p:spPr>
          <a:xfrm>
            <a:off x="619110" y="6511131"/>
            <a:ext cx="10896526" cy="158055"/>
          </a:xfrm>
          <a:prstGeom prst="rect">
            <a:avLst/>
          </a:prstGeom>
          <a:noFill/>
        </p:spPr>
        <p:txBody>
          <a:bodyPr wrap="none" lIns="0" tIns="0" rIns="0" bIns="0" rtlCol="0" anchor="t"/>
          <a:lstStyle/>
          <a:p>
            <a:pPr marL="0" indent="0" algn="l">
              <a:lnSpc>
                <a:spcPct val="125000"/>
              </a:lnSpc>
              <a:buNone/>
            </a:pPr>
            <a:r>
              <a:rPr lang="en-US" sz="850" dirty="0">
                <a:solidFill>
                  <a:srgbClr val="66706A"/>
                </a:solidFill>
                <a:latin typeface="Tinos" panose="02020603050405020304" pitchFamily="34" charset="0"/>
                <a:ea typeface="Tinos" panose="02020603050405020304" pitchFamily="34" charset="-122"/>
                <a:cs typeface="Tinos" panose="02020603050405020304" pitchFamily="34" charset="-120"/>
              </a:rPr>
              <a:t>TƯ TƯỞNG HỒ CHÍ MINH · VẬN DỤNG TRONG ĐỜI SỐNG SINH VIÊN</a:t>
            </a:r>
            <a:endParaRPr lang="en-US" sz="850" dirty="0"/>
          </a:p>
        </p:txBody>
      </p:sp>
      <p:sp>
        <p:nvSpPr>
          <p:cNvPr id="7" name="Text 5"/>
          <p:cNvSpPr/>
          <p:nvPr/>
        </p:nvSpPr>
        <p:spPr>
          <a:xfrm>
            <a:off x="11048922" y="6474321"/>
            <a:ext cx="1133447" cy="215205"/>
          </a:xfrm>
          <a:prstGeom prst="rect">
            <a:avLst/>
          </a:prstGeom>
          <a:noFill/>
        </p:spPr>
        <p:txBody>
          <a:bodyPr wrap="none" lIns="0" tIns="0" rIns="0" bIns="0" rtlCol="0" anchor="t"/>
          <a:lstStyle/>
          <a:p>
            <a:pPr marL="0" indent="0" algn="l">
              <a:lnSpc>
                <a:spcPct val="125000"/>
              </a:lnSpc>
              <a:buNone/>
            </a:pPr>
            <a:r>
              <a:rPr lang="en-US" sz="11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07</a:t>
            </a:r>
            <a:endParaRPr lang="en-US" sz="1150" dirty="0"/>
          </a:p>
        </p:txBody>
      </p:sp>
      <p:sp>
        <p:nvSpPr>
          <p:cNvPr id="8" name="Shape 6"/>
          <p:cNvSpPr/>
          <p:nvPr/>
        </p:nvSpPr>
        <p:spPr>
          <a:xfrm>
            <a:off x="2190695" y="1952625"/>
            <a:ext cx="7810503" cy="666750"/>
          </a:xfrm>
          <a:prstGeom prst="rect">
            <a:avLst/>
          </a:prstGeom>
          <a:solidFill>
            <a:srgbClr val="8D292E"/>
          </a:solidFill>
        </p:spPr>
      </p:sp>
      <p:sp>
        <p:nvSpPr>
          <p:cNvPr id="9" name="Text 7"/>
          <p:cNvSpPr/>
          <p:nvPr/>
        </p:nvSpPr>
        <p:spPr>
          <a:xfrm>
            <a:off x="2362141" y="2095500"/>
            <a:ext cx="7467512" cy="342900"/>
          </a:xfrm>
          <a:prstGeom prst="rect">
            <a:avLst/>
          </a:prstGeom>
          <a:noFill/>
        </p:spPr>
        <p:txBody>
          <a:bodyPr wrap="none" lIns="0" tIns="0" rIns="0" bIns="0" rtlCol="0" anchor="t"/>
          <a:lstStyle/>
          <a:p>
            <a:pPr marL="0" indent="0" algn="l">
              <a:lnSpc>
                <a:spcPct val="100000"/>
              </a:lnSpc>
              <a:buNone/>
            </a:pPr>
            <a:r>
              <a:rPr lang="en-US" sz="225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Người học quyết định và chịu trách nhiệm về bài làm</a:t>
            </a:r>
            <a:endParaRPr lang="en-US" sz="2250" dirty="0"/>
          </a:p>
        </p:txBody>
      </p:sp>
      <p:sp>
        <p:nvSpPr>
          <p:cNvPr id="10" name="Shape 8"/>
          <p:cNvSpPr/>
          <p:nvPr/>
        </p:nvSpPr>
        <p:spPr>
          <a:xfrm>
            <a:off x="2428814" y="2943324"/>
            <a:ext cx="7429413" cy="38100"/>
          </a:xfrm>
          <a:prstGeom prst="rect">
            <a:avLst/>
          </a:prstGeom>
          <a:solidFill>
            <a:srgbClr val="C69745"/>
          </a:solidFill>
        </p:spPr>
      </p:sp>
      <p:sp>
        <p:nvSpPr>
          <p:cNvPr id="11" name="Shape 9"/>
          <p:cNvSpPr/>
          <p:nvPr/>
        </p:nvSpPr>
        <p:spPr>
          <a:xfrm>
            <a:off x="6076897" y="2619474"/>
            <a:ext cx="38099" cy="361950"/>
          </a:xfrm>
          <a:prstGeom prst="rect">
            <a:avLst/>
          </a:prstGeom>
          <a:solidFill>
            <a:srgbClr val="C69745"/>
          </a:solidFill>
        </p:spPr>
      </p:sp>
      <p:sp>
        <p:nvSpPr>
          <p:cNvPr id="12" name="Shape 10"/>
          <p:cNvSpPr/>
          <p:nvPr/>
        </p:nvSpPr>
        <p:spPr>
          <a:xfrm>
            <a:off x="2409765" y="2943324"/>
            <a:ext cx="38099" cy="371475"/>
          </a:xfrm>
          <a:prstGeom prst="rect">
            <a:avLst/>
          </a:prstGeom>
          <a:solidFill>
            <a:srgbClr val="C69745"/>
          </a:solidFill>
        </p:spPr>
      </p:sp>
      <p:sp>
        <p:nvSpPr>
          <p:cNvPr id="13" name="Shape 11"/>
          <p:cNvSpPr/>
          <p:nvPr/>
        </p:nvSpPr>
        <p:spPr>
          <a:xfrm>
            <a:off x="619110" y="3286224"/>
            <a:ext cx="3476637" cy="666750"/>
          </a:xfrm>
          <a:prstGeom prst="rect">
            <a:avLst/>
          </a:prstGeom>
          <a:solidFill>
            <a:srgbClr val="285F56"/>
          </a:solidFill>
        </p:spPr>
      </p:sp>
      <p:sp>
        <p:nvSpPr>
          <p:cNvPr id="14" name="Text 12"/>
          <p:cNvSpPr/>
          <p:nvPr/>
        </p:nvSpPr>
        <p:spPr>
          <a:xfrm>
            <a:off x="790555" y="3370362"/>
            <a:ext cx="3133746"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Giữ vai trò tư duy</a:t>
            </a:r>
            <a:endParaRPr lang="en-US" sz="2100" dirty="0"/>
          </a:p>
        </p:txBody>
      </p:sp>
      <p:sp>
        <p:nvSpPr>
          <p:cNvPr id="15" name="Text 13"/>
          <p:cNvSpPr/>
          <p:nvPr/>
        </p:nvSpPr>
        <p:spPr>
          <a:xfrm>
            <a:off x="666733" y="4089003"/>
            <a:ext cx="3276617" cy="914400"/>
          </a:xfrm>
          <a:prstGeom prst="rect">
            <a:avLst/>
          </a:prstGeom>
          <a:noFill/>
        </p:spPr>
        <p:txBody>
          <a:bodyPr wrap="square" lIns="0" tIns="0" rIns="0" bIns="0" rtlCol="0" anchor="t">
            <a:normAutofit/>
          </a:bodyPr>
          <a:lstStyle/>
          <a:p>
            <a:pPr marL="0" indent="0" algn="l">
              <a:lnSpc>
                <a:spcPct val="100000"/>
              </a:lnSpc>
              <a:buNone/>
            </a:pPr>
            <a:r>
              <a:rPr lang="en-US" sz="1500" dirty="0">
                <a:solidFill>
                  <a:srgbClr val="222B2A"/>
                </a:solidFill>
                <a:latin typeface="Tinos" panose="02020603050405020304" pitchFamily="34" charset="0"/>
                <a:ea typeface="Tinos" panose="02020603050405020304" pitchFamily="34" charset="-122"/>
                <a:cs typeface="Tinos" panose="02020603050405020304" pitchFamily="34" charset="-120"/>
              </a:rPr>
              <a:t>Giữ vai trò tư duy: tự phân tích vấn đề, lựa chọn giải pháp và giải thích được kết quả. AI chỉ hỗ trợ gợi ý; sinh viên là người quyết định và chịu trách nhiệm.</a:t>
            </a:r>
            <a:endParaRPr lang="en-US" sz="1500" dirty="0"/>
          </a:p>
        </p:txBody>
      </p:sp>
      <p:sp>
        <p:nvSpPr>
          <p:cNvPr id="16" name="Shape 14"/>
          <p:cNvSpPr/>
          <p:nvPr/>
        </p:nvSpPr>
        <p:spPr>
          <a:xfrm>
            <a:off x="6124521" y="2943324"/>
            <a:ext cx="38099" cy="371475"/>
          </a:xfrm>
          <a:prstGeom prst="rect">
            <a:avLst/>
          </a:prstGeom>
          <a:solidFill>
            <a:srgbClr val="C69745"/>
          </a:solidFill>
        </p:spPr>
      </p:sp>
      <p:sp>
        <p:nvSpPr>
          <p:cNvPr id="17" name="Shape 15"/>
          <p:cNvSpPr/>
          <p:nvPr/>
        </p:nvSpPr>
        <p:spPr>
          <a:xfrm>
            <a:off x="4333866" y="3286224"/>
            <a:ext cx="3476637" cy="666750"/>
          </a:xfrm>
          <a:prstGeom prst="rect">
            <a:avLst/>
          </a:prstGeom>
          <a:solidFill>
            <a:srgbClr val="285F56"/>
          </a:solidFill>
        </p:spPr>
      </p:sp>
      <p:sp>
        <p:nvSpPr>
          <p:cNvPr id="18" name="Text 16"/>
          <p:cNvSpPr/>
          <p:nvPr/>
        </p:nvSpPr>
        <p:spPr>
          <a:xfrm>
            <a:off x="4505312" y="3370362"/>
            <a:ext cx="3133746"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Liêm chính học thuật</a:t>
            </a:r>
            <a:endParaRPr lang="en-US" sz="2100" dirty="0"/>
          </a:p>
        </p:txBody>
      </p:sp>
      <p:sp>
        <p:nvSpPr>
          <p:cNvPr id="19" name="Text 17"/>
          <p:cNvSpPr/>
          <p:nvPr/>
        </p:nvSpPr>
        <p:spPr>
          <a:xfrm>
            <a:off x="4381490" y="4089003"/>
            <a:ext cx="3276617" cy="1428750"/>
          </a:xfrm>
          <a:prstGeom prst="rect">
            <a:avLst/>
          </a:prstGeom>
          <a:noFill/>
        </p:spPr>
        <p:txBody>
          <a:bodyPr wrap="square" lIns="0" tIns="0" rIns="0" bIns="0" rtlCol="0" anchor="t">
            <a:normAutofit/>
          </a:bodyPr>
          <a:lstStyle/>
          <a:p>
            <a:pPr marL="0" indent="0" algn="l">
              <a:lnSpc>
                <a:spcPct val="125000"/>
              </a:lnSpc>
              <a:buNone/>
            </a:pPr>
            <a:r>
              <a:rPr lang="en-US" sz="1500" dirty="0">
                <a:solidFill>
                  <a:srgbClr val="222B2A"/>
                </a:solidFill>
                <a:latin typeface="Tinos" panose="02020603050405020304" pitchFamily="34" charset="0"/>
                <a:ea typeface="Tinos" panose="02020603050405020304" pitchFamily="34" charset="-122"/>
                <a:cs typeface="Tinos" panose="02020603050405020304" pitchFamily="34" charset="-120"/>
              </a:rPr>
              <a:t>Liêm chính học thuật: đối chiếu với giáo trình và tài liệu gốc, không nộp nguyên câu trả lời của AI như bài làm của mình. Ghi nhận việc dùng AI theo quy định của giảng viên.</a:t>
            </a:r>
            <a:endParaRPr lang="en-US" sz="1500" dirty="0"/>
          </a:p>
        </p:txBody>
      </p:sp>
      <p:sp>
        <p:nvSpPr>
          <p:cNvPr id="20" name="Shape 18"/>
          <p:cNvSpPr/>
          <p:nvPr/>
        </p:nvSpPr>
        <p:spPr>
          <a:xfrm>
            <a:off x="9839277" y="2943324"/>
            <a:ext cx="38099" cy="371475"/>
          </a:xfrm>
          <a:prstGeom prst="rect">
            <a:avLst/>
          </a:prstGeom>
          <a:solidFill>
            <a:srgbClr val="C69745"/>
          </a:solidFill>
        </p:spPr>
      </p:sp>
      <p:sp>
        <p:nvSpPr>
          <p:cNvPr id="21" name="Shape 19"/>
          <p:cNvSpPr/>
          <p:nvPr/>
        </p:nvSpPr>
        <p:spPr>
          <a:xfrm>
            <a:off x="8048622" y="3286224"/>
            <a:ext cx="3476637" cy="666750"/>
          </a:xfrm>
          <a:prstGeom prst="rect">
            <a:avLst/>
          </a:prstGeom>
          <a:solidFill>
            <a:srgbClr val="285F56"/>
          </a:solidFill>
        </p:spPr>
      </p:sp>
      <p:sp>
        <p:nvSpPr>
          <p:cNvPr id="22" name="Text 20"/>
          <p:cNvSpPr/>
          <p:nvPr/>
        </p:nvSpPr>
        <p:spPr>
          <a:xfrm>
            <a:off x="8220068" y="3370362"/>
            <a:ext cx="3133746"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An toàn thông tin</a:t>
            </a:r>
            <a:endParaRPr lang="en-US" sz="2100" dirty="0"/>
          </a:p>
        </p:txBody>
      </p:sp>
      <p:sp>
        <p:nvSpPr>
          <p:cNvPr id="23" name="Text 21"/>
          <p:cNvSpPr/>
          <p:nvPr/>
        </p:nvSpPr>
        <p:spPr>
          <a:xfrm>
            <a:off x="8096246" y="4089003"/>
            <a:ext cx="3276617" cy="914400"/>
          </a:xfrm>
          <a:prstGeom prst="rect">
            <a:avLst/>
          </a:prstGeom>
          <a:noFill/>
        </p:spPr>
        <p:txBody>
          <a:bodyPr wrap="square" lIns="0" tIns="0" rIns="0" bIns="0" rtlCol="0" anchor="t">
            <a:normAutofit/>
          </a:bodyPr>
          <a:lstStyle/>
          <a:p>
            <a:pPr marL="0" indent="0" algn="l">
              <a:lnSpc>
                <a:spcPct val="100000"/>
              </a:lnSpc>
              <a:buNone/>
            </a:pPr>
            <a:r>
              <a:rPr lang="en-US" sz="1500" dirty="0">
                <a:solidFill>
                  <a:srgbClr val="222B2A"/>
                </a:solidFill>
                <a:latin typeface="Tinos" panose="02020603050405020304" pitchFamily="34" charset="0"/>
                <a:ea typeface="Tinos" panose="02020603050405020304" pitchFamily="34" charset="-122"/>
                <a:cs typeface="Tinos" panose="02020603050405020304" pitchFamily="34" charset="-120"/>
              </a:rPr>
              <a:t>An toàn thông tin: ẩn danh dữ liệu khảo sát, không đưa dữ liệu nhạy cảm lên AI công cộng. Kiểm chứng thông tin trước khi chia sẻ, không tạo nội dung sai lệch.</a:t>
            </a:r>
            <a:endParaRPr lang="en-US" sz="1500" dirty="0"/>
          </a:p>
        </p:txBody>
      </p:sp>
      <p:pic>
        <p:nvPicPr>
          <p:cNvPr id="24" name="Image 0" descr="preencoded.png"/>
          <p:cNvPicPr>
            <a:picLocks noChangeAspect="1"/>
          </p:cNvPicPr>
          <p:nvPr/>
        </p:nvPicPr>
        <p:blipFill>
          <a:blip r:embed="rId1"/>
          <a:stretch>
            <a:fillRect/>
          </a:stretch>
        </p:blipFill>
        <p:spPr>
          <a:xfrm>
            <a:off x="11077000" y="6559252"/>
            <a:ext cx="1071833" cy="2559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2871" cy="6858099"/>
          </a:xfrm>
          <a:prstGeom prst="rect">
            <a:avLst/>
          </a:prstGeom>
          <a:solidFill>
            <a:srgbClr val="8D292E"/>
          </a:solidFill>
        </p:spPr>
      </p:sp>
      <p:sp>
        <p:nvSpPr>
          <p:cNvPr id="3" name="Text 1"/>
          <p:cNvSpPr/>
          <p:nvPr/>
        </p:nvSpPr>
        <p:spPr>
          <a:xfrm>
            <a:off x="619110" y="247948"/>
            <a:ext cx="11087021" cy="257175"/>
          </a:xfrm>
          <a:prstGeom prst="rect">
            <a:avLst/>
          </a:prstGeom>
          <a:noFill/>
        </p:spPr>
        <p:txBody>
          <a:bodyPr wrap="none" lIns="0" tIns="0" rIns="0" bIns="0" rtlCol="0" anchor="t"/>
          <a:lstStyle/>
          <a:p>
            <a:pPr marL="0" indent="0" algn="l">
              <a:lnSpc>
                <a:spcPct val="125000"/>
              </a:lnSpc>
              <a:buNone/>
            </a:pPr>
            <a:r>
              <a:rPr lang="en-US" sz="13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03 · VÍ DỤ ỨNG DỤNG CÔNG NGHỆ</a:t>
            </a:r>
            <a:endParaRPr lang="en-US" sz="1350" dirty="0"/>
          </a:p>
        </p:txBody>
      </p:sp>
      <p:sp>
        <p:nvSpPr>
          <p:cNvPr id="4" name="Text 2"/>
          <p:cNvSpPr/>
          <p:nvPr/>
        </p:nvSpPr>
        <p:spPr>
          <a:xfrm>
            <a:off x="619110" y="725785"/>
            <a:ext cx="10953674" cy="457200"/>
          </a:xfrm>
          <a:prstGeom prst="rect">
            <a:avLst/>
          </a:prstGeom>
          <a:noFill/>
        </p:spPr>
        <p:txBody>
          <a:bodyPr wrap="none" lIns="0" tIns="0" rIns="0" bIns="0" rtlCol="0" anchor="t"/>
          <a:lstStyle/>
          <a:p>
            <a:pPr marL="0" indent="0" algn="l">
              <a:lnSpc>
                <a:spcPct val="100000"/>
              </a:lnSpc>
              <a:buNone/>
            </a:pPr>
            <a:r>
              <a:rPr lang="en-US" sz="3000" b="1" dirty="0">
                <a:solidFill>
                  <a:srgbClr val="222B2A"/>
                </a:solidFill>
                <a:latin typeface="Tinos Bold" panose="02020803070505020304" pitchFamily="34" charset="0"/>
                <a:ea typeface="Tinos Bold" panose="02020803070505020304" pitchFamily="34" charset="-122"/>
                <a:cs typeface="Tinos Bold" panose="02020803070505020304" pitchFamily="34" charset="-120"/>
              </a:rPr>
              <a:t>Quy trình dùng AI trong học tập</a:t>
            </a:r>
            <a:endParaRPr lang="en-US" sz="3000" dirty="0"/>
          </a:p>
        </p:txBody>
      </p:sp>
      <p:sp>
        <p:nvSpPr>
          <p:cNvPr id="5" name="Shape 3"/>
          <p:cNvSpPr/>
          <p:nvPr/>
        </p:nvSpPr>
        <p:spPr>
          <a:xfrm>
            <a:off x="619110" y="6429474"/>
            <a:ext cx="10953674" cy="19050"/>
          </a:xfrm>
          <a:prstGeom prst="rect">
            <a:avLst/>
          </a:prstGeom>
          <a:solidFill>
            <a:srgbClr val="DED6CA"/>
          </a:solidFill>
        </p:spPr>
      </p:sp>
      <p:sp>
        <p:nvSpPr>
          <p:cNvPr id="6" name="Text 4"/>
          <p:cNvSpPr/>
          <p:nvPr/>
        </p:nvSpPr>
        <p:spPr>
          <a:xfrm>
            <a:off x="619110" y="6511131"/>
            <a:ext cx="10896526" cy="158055"/>
          </a:xfrm>
          <a:prstGeom prst="rect">
            <a:avLst/>
          </a:prstGeom>
          <a:noFill/>
        </p:spPr>
        <p:txBody>
          <a:bodyPr wrap="none" lIns="0" tIns="0" rIns="0" bIns="0" rtlCol="0" anchor="t"/>
          <a:lstStyle/>
          <a:p>
            <a:pPr marL="0" indent="0" algn="l">
              <a:lnSpc>
                <a:spcPct val="125000"/>
              </a:lnSpc>
              <a:buNone/>
            </a:pPr>
            <a:r>
              <a:rPr lang="en-US" sz="850" dirty="0">
                <a:solidFill>
                  <a:srgbClr val="66706A"/>
                </a:solidFill>
                <a:latin typeface="Tinos" panose="02020603050405020304" pitchFamily="34" charset="0"/>
                <a:ea typeface="Tinos" panose="02020603050405020304" pitchFamily="34" charset="-122"/>
                <a:cs typeface="Tinos" panose="02020603050405020304" pitchFamily="34" charset="-120"/>
              </a:rPr>
              <a:t>TƯ TƯỞNG HỒ CHÍ MINH · VẬN DỤNG TRONG ĐỜI SỐNG SINH VIÊN</a:t>
            </a:r>
            <a:endParaRPr lang="en-US" sz="850" dirty="0"/>
          </a:p>
        </p:txBody>
      </p:sp>
      <p:sp>
        <p:nvSpPr>
          <p:cNvPr id="7" name="Text 5"/>
          <p:cNvSpPr/>
          <p:nvPr/>
        </p:nvSpPr>
        <p:spPr>
          <a:xfrm>
            <a:off x="11048922" y="6474321"/>
            <a:ext cx="1133447" cy="215205"/>
          </a:xfrm>
          <a:prstGeom prst="rect">
            <a:avLst/>
          </a:prstGeom>
          <a:noFill/>
        </p:spPr>
        <p:txBody>
          <a:bodyPr wrap="none" lIns="0" tIns="0" rIns="0" bIns="0" rtlCol="0" anchor="t"/>
          <a:lstStyle/>
          <a:p>
            <a:pPr marL="0" indent="0" algn="l">
              <a:lnSpc>
                <a:spcPct val="125000"/>
              </a:lnSpc>
              <a:buNone/>
            </a:pPr>
            <a:r>
              <a:rPr lang="en-US" sz="11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08</a:t>
            </a:r>
            <a:endParaRPr lang="en-US" sz="1150" dirty="0"/>
          </a:p>
        </p:txBody>
      </p:sp>
      <p:sp>
        <p:nvSpPr>
          <p:cNvPr id="8" name="Text 6"/>
          <p:cNvSpPr/>
          <p:nvPr/>
        </p:nvSpPr>
        <p:spPr>
          <a:xfrm>
            <a:off x="619110" y="1831082"/>
            <a:ext cx="2285943" cy="662880"/>
          </a:xfrm>
          <a:prstGeom prst="rect">
            <a:avLst/>
          </a:prstGeom>
          <a:noFill/>
        </p:spPr>
        <p:txBody>
          <a:bodyPr wrap="none" lIns="0" tIns="0" rIns="0" bIns="0" rtlCol="0" anchor="t"/>
          <a:lstStyle/>
          <a:p>
            <a:pPr marL="0" indent="0" algn="l">
              <a:lnSpc>
                <a:spcPct val="100000"/>
              </a:lnSpc>
              <a:buNone/>
            </a:pPr>
            <a:r>
              <a:rPr lang="en-US" sz="4350" b="1" dirty="0">
                <a:solidFill>
                  <a:srgbClr val="C69745"/>
                </a:solidFill>
                <a:latin typeface="Tinos Bold" panose="02020803070505020304" pitchFamily="34" charset="0"/>
                <a:ea typeface="Tinos Bold" panose="02020803070505020304" pitchFamily="34" charset="-122"/>
                <a:cs typeface="Tinos Bold" panose="02020803070505020304" pitchFamily="34" charset="-120"/>
              </a:rPr>
              <a:t>01</a:t>
            </a:r>
            <a:endParaRPr lang="en-US" sz="4350" dirty="0"/>
          </a:p>
        </p:txBody>
      </p:sp>
      <p:sp>
        <p:nvSpPr>
          <p:cNvPr id="9" name="Shape 7"/>
          <p:cNvSpPr/>
          <p:nvPr/>
        </p:nvSpPr>
        <p:spPr>
          <a:xfrm>
            <a:off x="619110" y="3000474"/>
            <a:ext cx="2381190" cy="952500"/>
          </a:xfrm>
          <a:prstGeom prst="rect">
            <a:avLst/>
          </a:prstGeom>
          <a:solidFill>
            <a:srgbClr val="285F56"/>
          </a:solidFill>
        </p:spPr>
      </p:sp>
      <p:sp>
        <p:nvSpPr>
          <p:cNvPr id="10" name="Text 8"/>
          <p:cNvSpPr/>
          <p:nvPr/>
        </p:nvSpPr>
        <p:spPr>
          <a:xfrm>
            <a:off x="790555" y="3086695"/>
            <a:ext cx="1981150" cy="618530"/>
          </a:xfrm>
          <a:prstGeom prst="rect">
            <a:avLst/>
          </a:prstGeom>
          <a:noFill/>
        </p:spPr>
        <p:txBody>
          <a:bodyPr wrap="square" lIns="0" tIns="0" rIns="0" bIns="0" rtlCol="0" anchor="t">
            <a:normAutofit/>
          </a:bodyPr>
          <a:lstStyle/>
          <a:p>
            <a:pPr marL="0" indent="0" algn="l">
              <a:lnSpc>
                <a:spcPct val="100000"/>
              </a:lnSpc>
              <a:buNone/>
            </a:pPr>
            <a:r>
              <a:rPr lang="en-US" sz="205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Tự xác định yêu cầu</a:t>
            </a:r>
            <a:endParaRPr lang="en-US" sz="2050" dirty="0"/>
          </a:p>
        </p:txBody>
      </p:sp>
      <p:sp>
        <p:nvSpPr>
          <p:cNvPr id="11" name="Text 9"/>
          <p:cNvSpPr/>
          <p:nvPr/>
        </p:nvSpPr>
        <p:spPr>
          <a:xfrm>
            <a:off x="619110" y="4155678"/>
            <a:ext cx="2324042" cy="857250"/>
          </a:xfrm>
          <a:prstGeom prst="rect">
            <a:avLst/>
          </a:prstGeom>
          <a:noFill/>
        </p:spPr>
        <p:txBody>
          <a:bodyPr wrap="square" lIns="0" tIns="0" rIns="0" bIns="0" rtlCol="0" anchor="t">
            <a:normAutofit/>
          </a:bodyPr>
          <a:lstStyle/>
          <a:p>
            <a:pPr marL="0" indent="0" algn="l">
              <a:lnSpc>
                <a:spcPct val="125000"/>
              </a:lnSpc>
              <a:buNone/>
            </a:pPr>
            <a:r>
              <a:rPr lang="en-US" sz="1500" dirty="0">
                <a:solidFill>
                  <a:srgbClr val="222B2A"/>
                </a:solidFill>
                <a:latin typeface="Tinos" panose="02020603050405020304" pitchFamily="34" charset="0"/>
                <a:ea typeface="Tinos" panose="02020603050405020304" pitchFamily="34" charset="-122"/>
                <a:cs typeface="Tinos" panose="02020603050405020304" pitchFamily="34" charset="-120"/>
              </a:rPr>
              <a:t>Đọc giáo trình, xác định câu hỏi và lập dàn ý trước khi hỏi AI.</a:t>
            </a:r>
            <a:endParaRPr lang="en-US" sz="1500" dirty="0"/>
          </a:p>
        </p:txBody>
      </p:sp>
      <p:sp>
        <p:nvSpPr>
          <p:cNvPr id="12" name="Shape 10"/>
          <p:cNvSpPr/>
          <p:nvPr/>
        </p:nvSpPr>
        <p:spPr>
          <a:xfrm>
            <a:off x="3057548" y="3333849"/>
            <a:ext cx="304792" cy="209550"/>
          </a:xfrm>
          <a:custGeom>
            <a:avLst/>
            <a:gdLst/>
            <a:ahLst/>
            <a:cxnLst/>
            <a:rect l="l" t="t" r="r" b="b"/>
            <a:pathLst>
              <a:path w="304792" h="209550">
                <a:moveTo>
                  <a:pt x="0" y="52388"/>
                </a:moveTo>
                <a:lnTo>
                  <a:pt x="200035" y="52388"/>
                </a:lnTo>
                <a:lnTo>
                  <a:pt x="200035" y="0"/>
                </a:lnTo>
                <a:lnTo>
                  <a:pt x="304792" y="104775"/>
                </a:lnTo>
                <a:lnTo>
                  <a:pt x="200035" y="209550"/>
                </a:lnTo>
                <a:lnTo>
                  <a:pt x="200035" y="157163"/>
                </a:lnTo>
                <a:lnTo>
                  <a:pt x="0" y="157163"/>
                </a:lnTo>
                <a:close/>
              </a:path>
            </a:pathLst>
          </a:custGeom>
          <a:solidFill>
            <a:srgbClr val="C69745"/>
          </a:solidFill>
        </p:spPr>
      </p:sp>
      <p:sp>
        <p:nvSpPr>
          <p:cNvPr id="13" name="Text 11"/>
          <p:cNvSpPr/>
          <p:nvPr/>
        </p:nvSpPr>
        <p:spPr>
          <a:xfrm>
            <a:off x="3429013" y="1831082"/>
            <a:ext cx="2285943" cy="662880"/>
          </a:xfrm>
          <a:prstGeom prst="rect">
            <a:avLst/>
          </a:prstGeom>
          <a:noFill/>
        </p:spPr>
        <p:txBody>
          <a:bodyPr wrap="none" lIns="0" tIns="0" rIns="0" bIns="0" rtlCol="0" anchor="t"/>
          <a:lstStyle/>
          <a:p>
            <a:pPr marL="0" indent="0" algn="l">
              <a:lnSpc>
                <a:spcPct val="100000"/>
              </a:lnSpc>
              <a:buNone/>
            </a:pPr>
            <a:r>
              <a:rPr lang="en-US" sz="4350" b="1" dirty="0">
                <a:solidFill>
                  <a:srgbClr val="C69745"/>
                </a:solidFill>
                <a:latin typeface="Tinos Bold" panose="02020803070505020304" pitchFamily="34" charset="0"/>
                <a:ea typeface="Tinos Bold" panose="02020803070505020304" pitchFamily="34" charset="-122"/>
                <a:cs typeface="Tinos Bold" panose="02020803070505020304" pitchFamily="34" charset="-120"/>
              </a:rPr>
              <a:t>02</a:t>
            </a:r>
            <a:endParaRPr lang="en-US" sz="4350" dirty="0"/>
          </a:p>
        </p:txBody>
      </p:sp>
      <p:sp>
        <p:nvSpPr>
          <p:cNvPr id="14" name="Shape 12"/>
          <p:cNvSpPr/>
          <p:nvPr/>
        </p:nvSpPr>
        <p:spPr>
          <a:xfrm>
            <a:off x="3429013" y="3000474"/>
            <a:ext cx="2381190" cy="952500"/>
          </a:xfrm>
          <a:prstGeom prst="rect">
            <a:avLst/>
          </a:prstGeom>
          <a:solidFill>
            <a:srgbClr val="285F56"/>
          </a:solidFill>
        </p:spPr>
      </p:sp>
      <p:sp>
        <p:nvSpPr>
          <p:cNvPr id="15" name="Text 13"/>
          <p:cNvSpPr/>
          <p:nvPr/>
        </p:nvSpPr>
        <p:spPr>
          <a:xfrm>
            <a:off x="3600459" y="3086695"/>
            <a:ext cx="2038299" cy="618530"/>
          </a:xfrm>
          <a:prstGeom prst="rect">
            <a:avLst/>
          </a:prstGeom>
          <a:noFill/>
        </p:spPr>
        <p:txBody>
          <a:bodyPr wrap="square" lIns="0" tIns="0" rIns="0" bIns="0" rtlCol="0" anchor="t">
            <a:normAutofit/>
          </a:bodyPr>
          <a:lstStyle/>
          <a:p>
            <a:pPr marL="0" indent="0" algn="l">
              <a:lnSpc>
                <a:spcPct val="100000"/>
              </a:lnSpc>
              <a:buNone/>
            </a:pPr>
            <a:r>
              <a:rPr lang="en-US" sz="205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AI gợi ý, phản biện</a:t>
            </a:r>
            <a:endParaRPr lang="en-US" sz="2050" dirty="0"/>
          </a:p>
        </p:txBody>
      </p:sp>
      <p:sp>
        <p:nvSpPr>
          <p:cNvPr id="16" name="Text 14"/>
          <p:cNvSpPr/>
          <p:nvPr/>
        </p:nvSpPr>
        <p:spPr>
          <a:xfrm>
            <a:off x="3429013" y="4155678"/>
            <a:ext cx="2324042" cy="1143000"/>
          </a:xfrm>
          <a:prstGeom prst="rect">
            <a:avLst/>
          </a:prstGeom>
          <a:noFill/>
        </p:spPr>
        <p:txBody>
          <a:bodyPr wrap="square" lIns="0" tIns="0" rIns="0" bIns="0" rtlCol="0" anchor="t">
            <a:normAutofit/>
          </a:bodyPr>
          <a:lstStyle/>
          <a:p>
            <a:pPr marL="0" indent="0" algn="l">
              <a:lnSpc>
                <a:spcPct val="125000"/>
              </a:lnSpc>
              <a:buNone/>
            </a:pPr>
            <a:r>
              <a:rPr lang="en-US" sz="1500" dirty="0">
                <a:solidFill>
                  <a:srgbClr val="222B2A"/>
                </a:solidFill>
                <a:latin typeface="Tinos" panose="02020603050405020304" pitchFamily="34" charset="0"/>
                <a:ea typeface="Tinos" panose="02020603050405020304" pitchFamily="34" charset="-122"/>
                <a:cs typeface="Tinos" panose="02020603050405020304" pitchFamily="34" charset="-120"/>
              </a:rPr>
              <a:t>Nhờ AI chỉ ra lỗi logic, điểm yếu hoặc hướng giải khác; AI gợi ý, không thay thế lập luận của bạn.</a:t>
            </a:r>
            <a:endParaRPr lang="en-US" sz="1500" dirty="0"/>
          </a:p>
        </p:txBody>
      </p:sp>
      <p:sp>
        <p:nvSpPr>
          <p:cNvPr id="17" name="Shape 15"/>
          <p:cNvSpPr/>
          <p:nvPr/>
        </p:nvSpPr>
        <p:spPr>
          <a:xfrm>
            <a:off x="5867352" y="3333849"/>
            <a:ext cx="304792" cy="209550"/>
          </a:xfrm>
          <a:custGeom>
            <a:avLst/>
            <a:gdLst/>
            <a:ahLst/>
            <a:cxnLst/>
            <a:rect l="l" t="t" r="r" b="b"/>
            <a:pathLst>
              <a:path w="304792" h="209550">
                <a:moveTo>
                  <a:pt x="0" y="52388"/>
                </a:moveTo>
                <a:lnTo>
                  <a:pt x="200035" y="52388"/>
                </a:lnTo>
                <a:lnTo>
                  <a:pt x="200035" y="0"/>
                </a:lnTo>
                <a:lnTo>
                  <a:pt x="304792" y="104775"/>
                </a:lnTo>
                <a:lnTo>
                  <a:pt x="200035" y="209550"/>
                </a:lnTo>
                <a:lnTo>
                  <a:pt x="200035" y="157163"/>
                </a:lnTo>
                <a:lnTo>
                  <a:pt x="0" y="157163"/>
                </a:lnTo>
                <a:close/>
              </a:path>
            </a:pathLst>
          </a:custGeom>
          <a:solidFill>
            <a:srgbClr val="C69745"/>
          </a:solidFill>
        </p:spPr>
      </p:sp>
      <p:sp>
        <p:nvSpPr>
          <p:cNvPr id="18" name="Text 16"/>
          <p:cNvSpPr/>
          <p:nvPr/>
        </p:nvSpPr>
        <p:spPr>
          <a:xfrm>
            <a:off x="6238818" y="1831082"/>
            <a:ext cx="2285943" cy="662880"/>
          </a:xfrm>
          <a:prstGeom prst="rect">
            <a:avLst/>
          </a:prstGeom>
          <a:noFill/>
        </p:spPr>
        <p:txBody>
          <a:bodyPr wrap="none" lIns="0" tIns="0" rIns="0" bIns="0" rtlCol="0" anchor="t"/>
          <a:lstStyle/>
          <a:p>
            <a:pPr marL="0" indent="0" algn="l">
              <a:lnSpc>
                <a:spcPct val="100000"/>
              </a:lnSpc>
              <a:buNone/>
            </a:pPr>
            <a:r>
              <a:rPr lang="en-US" sz="4350" b="1" dirty="0">
                <a:solidFill>
                  <a:srgbClr val="C69745"/>
                </a:solidFill>
                <a:latin typeface="Tinos Bold" panose="02020803070505020304" pitchFamily="34" charset="0"/>
                <a:ea typeface="Tinos Bold" panose="02020803070505020304" pitchFamily="34" charset="-122"/>
                <a:cs typeface="Tinos Bold" panose="02020803070505020304" pitchFamily="34" charset="-120"/>
              </a:rPr>
              <a:t>03</a:t>
            </a:r>
            <a:endParaRPr lang="en-US" sz="4350" dirty="0"/>
          </a:p>
        </p:txBody>
      </p:sp>
      <p:sp>
        <p:nvSpPr>
          <p:cNvPr id="19" name="Shape 17"/>
          <p:cNvSpPr/>
          <p:nvPr/>
        </p:nvSpPr>
        <p:spPr>
          <a:xfrm>
            <a:off x="6238818" y="3000474"/>
            <a:ext cx="2381190" cy="952500"/>
          </a:xfrm>
          <a:prstGeom prst="rect">
            <a:avLst/>
          </a:prstGeom>
          <a:solidFill>
            <a:srgbClr val="8D292E"/>
          </a:solidFill>
        </p:spPr>
      </p:sp>
      <p:sp>
        <p:nvSpPr>
          <p:cNvPr id="20" name="Text 18"/>
          <p:cNvSpPr/>
          <p:nvPr/>
        </p:nvSpPr>
        <p:spPr>
          <a:xfrm>
            <a:off x="6410264" y="3086695"/>
            <a:ext cx="1981150" cy="618530"/>
          </a:xfrm>
          <a:prstGeom prst="rect">
            <a:avLst/>
          </a:prstGeom>
          <a:noFill/>
        </p:spPr>
        <p:txBody>
          <a:bodyPr wrap="square" lIns="0" tIns="0" rIns="0" bIns="0" rtlCol="0" anchor="t">
            <a:normAutofit/>
          </a:bodyPr>
          <a:lstStyle/>
          <a:p>
            <a:pPr marL="0" indent="0" algn="l">
              <a:lnSpc>
                <a:spcPct val="100000"/>
              </a:lnSpc>
              <a:buNone/>
            </a:pPr>
            <a:r>
              <a:rPr lang="en-US" sz="205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Kiểm chứng kết quả</a:t>
            </a:r>
            <a:endParaRPr lang="en-US" sz="2050" dirty="0"/>
          </a:p>
        </p:txBody>
      </p:sp>
      <p:sp>
        <p:nvSpPr>
          <p:cNvPr id="21" name="Text 19"/>
          <p:cNvSpPr/>
          <p:nvPr/>
        </p:nvSpPr>
        <p:spPr>
          <a:xfrm>
            <a:off x="6238818" y="4155678"/>
            <a:ext cx="2324042" cy="1143000"/>
          </a:xfrm>
          <a:prstGeom prst="rect">
            <a:avLst/>
          </a:prstGeom>
          <a:noFill/>
        </p:spPr>
        <p:txBody>
          <a:bodyPr wrap="square" lIns="0" tIns="0" rIns="0" bIns="0" rtlCol="0" anchor="t">
            <a:normAutofit/>
          </a:bodyPr>
          <a:lstStyle/>
          <a:p>
            <a:pPr marL="0" indent="0" algn="l">
              <a:lnSpc>
                <a:spcPct val="125000"/>
              </a:lnSpc>
              <a:buNone/>
            </a:pPr>
            <a:r>
              <a:rPr lang="en-US" sz="1500" dirty="0">
                <a:solidFill>
                  <a:srgbClr val="222B2A"/>
                </a:solidFill>
                <a:latin typeface="Tinos" panose="02020603050405020304" pitchFamily="34" charset="0"/>
                <a:ea typeface="Tinos" panose="02020603050405020304" pitchFamily="34" charset="-122"/>
                <a:cs typeface="Tinos" panose="02020603050405020304" pitchFamily="34" charset="-120"/>
              </a:rPr>
              <a:t>Đối chiếu nguồn gốc, chạy thử hoặc mô phỏng; với tiểu luận, tìm tài liệu gốc trước khi trích dẫn.</a:t>
            </a:r>
            <a:endParaRPr lang="en-US" sz="1500" dirty="0"/>
          </a:p>
        </p:txBody>
      </p:sp>
      <p:sp>
        <p:nvSpPr>
          <p:cNvPr id="22" name="Shape 20"/>
          <p:cNvSpPr/>
          <p:nvPr/>
        </p:nvSpPr>
        <p:spPr>
          <a:xfrm>
            <a:off x="8677256" y="3333849"/>
            <a:ext cx="304792" cy="209550"/>
          </a:xfrm>
          <a:custGeom>
            <a:avLst/>
            <a:gdLst/>
            <a:ahLst/>
            <a:cxnLst/>
            <a:rect l="l" t="t" r="r" b="b"/>
            <a:pathLst>
              <a:path w="304792" h="209550">
                <a:moveTo>
                  <a:pt x="0" y="52388"/>
                </a:moveTo>
                <a:lnTo>
                  <a:pt x="200035" y="52388"/>
                </a:lnTo>
                <a:lnTo>
                  <a:pt x="200035" y="0"/>
                </a:lnTo>
                <a:lnTo>
                  <a:pt x="304792" y="104775"/>
                </a:lnTo>
                <a:lnTo>
                  <a:pt x="200035" y="209550"/>
                </a:lnTo>
                <a:lnTo>
                  <a:pt x="200035" y="157163"/>
                </a:lnTo>
                <a:lnTo>
                  <a:pt x="0" y="157163"/>
                </a:lnTo>
                <a:close/>
              </a:path>
            </a:pathLst>
          </a:custGeom>
          <a:solidFill>
            <a:srgbClr val="C69745"/>
          </a:solidFill>
        </p:spPr>
      </p:sp>
      <p:sp>
        <p:nvSpPr>
          <p:cNvPr id="23" name="Text 21"/>
          <p:cNvSpPr/>
          <p:nvPr/>
        </p:nvSpPr>
        <p:spPr>
          <a:xfrm>
            <a:off x="9048722" y="1831082"/>
            <a:ext cx="2285943" cy="662880"/>
          </a:xfrm>
          <a:prstGeom prst="rect">
            <a:avLst/>
          </a:prstGeom>
          <a:noFill/>
        </p:spPr>
        <p:txBody>
          <a:bodyPr wrap="none" lIns="0" tIns="0" rIns="0" bIns="0" rtlCol="0" anchor="t"/>
          <a:lstStyle/>
          <a:p>
            <a:pPr marL="0" indent="0" algn="l">
              <a:lnSpc>
                <a:spcPct val="100000"/>
              </a:lnSpc>
              <a:buNone/>
            </a:pPr>
            <a:r>
              <a:rPr lang="en-US" sz="4350" b="1" dirty="0">
                <a:solidFill>
                  <a:srgbClr val="C69745"/>
                </a:solidFill>
                <a:latin typeface="Tinos Bold" panose="02020803070505020304" pitchFamily="34" charset="0"/>
                <a:ea typeface="Tinos Bold" panose="02020803070505020304" pitchFamily="34" charset="-122"/>
                <a:cs typeface="Tinos Bold" panose="02020803070505020304" pitchFamily="34" charset="-120"/>
              </a:rPr>
              <a:t>04</a:t>
            </a:r>
            <a:endParaRPr lang="en-US" sz="4350" dirty="0"/>
          </a:p>
        </p:txBody>
      </p:sp>
      <p:sp>
        <p:nvSpPr>
          <p:cNvPr id="24" name="Shape 22"/>
          <p:cNvSpPr/>
          <p:nvPr/>
        </p:nvSpPr>
        <p:spPr>
          <a:xfrm>
            <a:off x="9048722" y="3000474"/>
            <a:ext cx="2381190" cy="952500"/>
          </a:xfrm>
          <a:prstGeom prst="rect">
            <a:avLst/>
          </a:prstGeom>
          <a:solidFill>
            <a:srgbClr val="285F56"/>
          </a:solidFill>
        </p:spPr>
      </p:sp>
      <p:sp>
        <p:nvSpPr>
          <p:cNvPr id="25" name="Text 23"/>
          <p:cNvSpPr/>
          <p:nvPr/>
        </p:nvSpPr>
        <p:spPr>
          <a:xfrm>
            <a:off x="9220168" y="3086695"/>
            <a:ext cx="2038299" cy="309265"/>
          </a:xfrm>
          <a:prstGeom prst="rect">
            <a:avLst/>
          </a:prstGeom>
          <a:noFill/>
        </p:spPr>
        <p:txBody>
          <a:bodyPr wrap="none" lIns="0" tIns="0" rIns="0" bIns="0" rtlCol="0" anchor="t"/>
          <a:lstStyle/>
          <a:p>
            <a:pPr marL="0" indent="0" algn="l">
              <a:lnSpc>
                <a:spcPct val="100000"/>
              </a:lnSpc>
              <a:buNone/>
            </a:pPr>
            <a:r>
              <a:rPr lang="en-US" sz="205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Tự hoàn thiện bài</a:t>
            </a:r>
            <a:endParaRPr lang="en-US" sz="2050" dirty="0"/>
          </a:p>
        </p:txBody>
      </p:sp>
      <p:sp>
        <p:nvSpPr>
          <p:cNvPr id="26" name="Text 24"/>
          <p:cNvSpPr/>
          <p:nvPr/>
        </p:nvSpPr>
        <p:spPr>
          <a:xfrm>
            <a:off x="9048722" y="4155678"/>
            <a:ext cx="2324042" cy="1143000"/>
          </a:xfrm>
          <a:prstGeom prst="rect">
            <a:avLst/>
          </a:prstGeom>
          <a:noFill/>
        </p:spPr>
        <p:txBody>
          <a:bodyPr wrap="square" lIns="0" tIns="0" rIns="0" bIns="0" rtlCol="0" anchor="t">
            <a:normAutofit/>
          </a:bodyPr>
          <a:lstStyle/>
          <a:p>
            <a:pPr marL="0" indent="0" algn="l">
              <a:lnSpc>
                <a:spcPct val="125000"/>
              </a:lnSpc>
              <a:buNone/>
            </a:pPr>
            <a:r>
              <a:rPr lang="en-US" sz="1500" dirty="0">
                <a:solidFill>
                  <a:srgbClr val="222B2A"/>
                </a:solidFill>
                <a:latin typeface="Tinos" panose="02020603050405020304" pitchFamily="34" charset="0"/>
                <a:ea typeface="Tinos" panose="02020603050405020304" pitchFamily="34" charset="-122"/>
                <a:cs typeface="Tinos" panose="02020603050405020304" pitchFamily="34" charset="-120"/>
              </a:rPr>
              <a:t>Tự viết lại bằng lời của mình, giải thích được kết quả và ghi nhận sự hỗ trợ của AI trong bài.</a:t>
            </a:r>
            <a:endParaRPr lang="en-US" sz="1500" dirty="0"/>
          </a:p>
        </p:txBody>
      </p:sp>
      <p:sp>
        <p:nvSpPr>
          <p:cNvPr id="27" name="Shape 25"/>
          <p:cNvSpPr/>
          <p:nvPr/>
        </p:nvSpPr>
        <p:spPr>
          <a:xfrm>
            <a:off x="619110" y="5572224"/>
            <a:ext cx="10953674" cy="619125"/>
          </a:xfrm>
          <a:prstGeom prst="rect">
            <a:avLst/>
          </a:prstGeom>
          <a:solidFill>
            <a:srgbClr val="285F56"/>
          </a:solidFill>
        </p:spPr>
      </p:sp>
      <p:sp>
        <p:nvSpPr>
          <p:cNvPr id="28" name="Text 26"/>
          <p:cNvSpPr/>
          <p:nvPr/>
        </p:nvSpPr>
        <p:spPr>
          <a:xfrm>
            <a:off x="809605" y="5681762"/>
            <a:ext cx="11182269" cy="358080"/>
          </a:xfrm>
          <a:prstGeom prst="rect">
            <a:avLst/>
          </a:prstGeom>
          <a:noFill/>
        </p:spPr>
        <p:txBody>
          <a:bodyPr wrap="none" lIns="0" tIns="0" rIns="0" bIns="0" rtlCol="0" anchor="t"/>
          <a:lstStyle/>
          <a:p>
            <a:pPr marL="0" indent="0" algn="l">
              <a:lnSpc>
                <a:spcPct val="125000"/>
              </a:lnSpc>
              <a:buNone/>
            </a:pPr>
            <a:r>
              <a:rPr lang="en-US" sz="19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Ví dụ: AI gợi ý mạch hoặc mã nguồn; sinh viên mô phỏng và kiểm tra lỗi</a:t>
            </a:r>
            <a:endParaRPr lang="en-US" sz="1900" dirty="0"/>
          </a:p>
        </p:txBody>
      </p:sp>
      <p:pic>
        <p:nvPicPr>
          <p:cNvPr id="29" name="Image 0" descr="preencoded.png"/>
          <p:cNvPicPr>
            <a:picLocks noChangeAspect="1"/>
          </p:cNvPicPr>
          <p:nvPr/>
        </p:nvPicPr>
        <p:blipFill>
          <a:blip r:embed="rId1"/>
          <a:stretch>
            <a:fillRect/>
          </a:stretch>
        </p:blipFill>
        <p:spPr>
          <a:xfrm>
            <a:off x="11077000" y="6559252"/>
            <a:ext cx="1071833" cy="25598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2871" cy="6858099"/>
          </a:xfrm>
          <a:prstGeom prst="rect">
            <a:avLst/>
          </a:prstGeom>
          <a:solidFill>
            <a:srgbClr val="8D292E"/>
          </a:solidFill>
        </p:spPr>
      </p:sp>
      <p:sp>
        <p:nvSpPr>
          <p:cNvPr id="3" name="Text 1"/>
          <p:cNvSpPr/>
          <p:nvPr/>
        </p:nvSpPr>
        <p:spPr>
          <a:xfrm>
            <a:off x="619110" y="247948"/>
            <a:ext cx="11087021" cy="257175"/>
          </a:xfrm>
          <a:prstGeom prst="rect">
            <a:avLst/>
          </a:prstGeom>
          <a:noFill/>
        </p:spPr>
        <p:txBody>
          <a:bodyPr wrap="none" lIns="0" tIns="0" rIns="0" bIns="0" rtlCol="0" anchor="t"/>
          <a:lstStyle/>
          <a:p>
            <a:pPr marL="0" indent="0" algn="l">
              <a:lnSpc>
                <a:spcPct val="125000"/>
              </a:lnSpc>
              <a:buNone/>
            </a:pPr>
            <a:r>
              <a:rPr lang="en-US" sz="13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04 · VĂN HÓA</a:t>
            </a:r>
            <a:endParaRPr lang="en-US" sz="1350" dirty="0"/>
          </a:p>
        </p:txBody>
      </p:sp>
      <p:sp>
        <p:nvSpPr>
          <p:cNvPr id="4" name="Text 2"/>
          <p:cNvSpPr/>
          <p:nvPr/>
        </p:nvSpPr>
        <p:spPr>
          <a:xfrm>
            <a:off x="619110" y="725785"/>
            <a:ext cx="10953674" cy="457200"/>
          </a:xfrm>
          <a:prstGeom prst="rect">
            <a:avLst/>
          </a:prstGeom>
          <a:noFill/>
        </p:spPr>
        <p:txBody>
          <a:bodyPr wrap="none" lIns="0" tIns="0" rIns="0" bIns="0" rtlCol="0" anchor="t"/>
          <a:lstStyle/>
          <a:p>
            <a:pPr marL="0" indent="0" algn="l">
              <a:lnSpc>
                <a:spcPct val="100000"/>
              </a:lnSpc>
              <a:buNone/>
            </a:pPr>
            <a:r>
              <a:rPr lang="en-US" sz="3000" b="1" dirty="0">
                <a:solidFill>
                  <a:srgbClr val="222B2A"/>
                </a:solidFill>
                <a:latin typeface="Tinos Bold" panose="02020803070505020304" pitchFamily="34" charset="0"/>
                <a:ea typeface="Tinos Bold" panose="02020803070505020304" pitchFamily="34" charset="-122"/>
                <a:cs typeface="Tinos Bold" panose="02020803070505020304" pitchFamily="34" charset="-120"/>
              </a:rPr>
              <a:t>Mục tiêu phát triển văn hóa</a:t>
            </a:r>
            <a:endParaRPr lang="en-US" sz="3000" dirty="0"/>
          </a:p>
        </p:txBody>
      </p:sp>
      <p:sp>
        <p:nvSpPr>
          <p:cNvPr id="5" name="Shape 3"/>
          <p:cNvSpPr/>
          <p:nvPr/>
        </p:nvSpPr>
        <p:spPr>
          <a:xfrm>
            <a:off x="619110" y="6429474"/>
            <a:ext cx="10953674" cy="19050"/>
          </a:xfrm>
          <a:prstGeom prst="rect">
            <a:avLst/>
          </a:prstGeom>
          <a:solidFill>
            <a:srgbClr val="DED6CA"/>
          </a:solidFill>
        </p:spPr>
      </p:sp>
      <p:sp>
        <p:nvSpPr>
          <p:cNvPr id="6" name="Text 4"/>
          <p:cNvSpPr/>
          <p:nvPr/>
        </p:nvSpPr>
        <p:spPr>
          <a:xfrm>
            <a:off x="619110" y="6511131"/>
            <a:ext cx="10896526" cy="158055"/>
          </a:xfrm>
          <a:prstGeom prst="rect">
            <a:avLst/>
          </a:prstGeom>
          <a:noFill/>
        </p:spPr>
        <p:txBody>
          <a:bodyPr wrap="none" lIns="0" tIns="0" rIns="0" bIns="0" rtlCol="0" anchor="t"/>
          <a:lstStyle/>
          <a:p>
            <a:pPr marL="0" indent="0" algn="l">
              <a:lnSpc>
                <a:spcPct val="125000"/>
              </a:lnSpc>
              <a:buNone/>
            </a:pPr>
            <a:r>
              <a:rPr lang="en-US" sz="850" dirty="0">
                <a:solidFill>
                  <a:srgbClr val="66706A"/>
                </a:solidFill>
                <a:latin typeface="Tinos" panose="02020603050405020304" pitchFamily="34" charset="0"/>
                <a:ea typeface="Tinos" panose="02020603050405020304" pitchFamily="34" charset="-122"/>
                <a:cs typeface="Tinos" panose="02020603050405020304" pitchFamily="34" charset="-120"/>
              </a:rPr>
              <a:t>TƯ TƯỞNG HỒ CHÍ MINH · VẬN DỤNG TRONG ĐỜI SỐNG SINH VIÊN</a:t>
            </a:r>
            <a:endParaRPr lang="en-US" sz="850" dirty="0"/>
          </a:p>
        </p:txBody>
      </p:sp>
      <p:sp>
        <p:nvSpPr>
          <p:cNvPr id="7" name="Text 5"/>
          <p:cNvSpPr/>
          <p:nvPr/>
        </p:nvSpPr>
        <p:spPr>
          <a:xfrm>
            <a:off x="11048922" y="6474321"/>
            <a:ext cx="1133447" cy="215205"/>
          </a:xfrm>
          <a:prstGeom prst="rect">
            <a:avLst/>
          </a:prstGeom>
          <a:noFill/>
        </p:spPr>
        <p:txBody>
          <a:bodyPr wrap="none" lIns="0" tIns="0" rIns="0" bIns="0" rtlCol="0" anchor="t"/>
          <a:lstStyle/>
          <a:p>
            <a:pPr marL="0" indent="0" algn="l">
              <a:lnSpc>
                <a:spcPct val="125000"/>
              </a:lnSpc>
              <a:buNone/>
            </a:pPr>
            <a:r>
              <a:rPr lang="en-US" sz="11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09</a:t>
            </a:r>
            <a:endParaRPr lang="en-US" sz="1150" dirty="0"/>
          </a:p>
        </p:txBody>
      </p:sp>
      <p:sp>
        <p:nvSpPr>
          <p:cNvPr id="8" name="Text 6"/>
          <p:cNvSpPr/>
          <p:nvPr/>
        </p:nvSpPr>
        <p:spPr>
          <a:xfrm>
            <a:off x="1090295" y="1724025"/>
            <a:ext cx="11353165" cy="819785"/>
          </a:xfrm>
          <a:prstGeom prst="rect">
            <a:avLst/>
          </a:prstGeom>
          <a:noFill/>
        </p:spPr>
        <p:txBody>
          <a:bodyPr wrap="none" lIns="0" tIns="0" rIns="0" bIns="0" rtlCol="0" anchor="t"/>
          <a:lstStyle/>
          <a:p>
            <a:pPr marL="0" indent="0" algn="l">
              <a:lnSpc>
                <a:spcPct val="100000"/>
              </a:lnSpc>
              <a:buNone/>
            </a:pPr>
            <a:r>
              <a:rPr lang="en-US" sz="22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Văn hóa phải mang tính dân tộc, khoa học, đại chúng và tiếp thu tinh hoa </a:t>
            </a:r>
            <a:endParaRPr lang="en-US" sz="22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endParaRPr>
          </a:p>
          <a:p>
            <a:pPr marL="0" indent="0" algn="l">
              <a:lnSpc>
                <a:spcPct val="100000"/>
              </a:lnSpc>
              <a:buNone/>
            </a:pPr>
            <a:r>
              <a:rPr lang="en-US" sz="22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văn hóa nhân loại.</a:t>
            </a:r>
            <a:endParaRPr lang="en-US" sz="2250" dirty="0"/>
          </a:p>
        </p:txBody>
      </p:sp>
      <p:sp>
        <p:nvSpPr>
          <p:cNvPr id="9" name="Shape 7"/>
          <p:cNvSpPr/>
          <p:nvPr/>
        </p:nvSpPr>
        <p:spPr>
          <a:xfrm>
            <a:off x="619110" y="3000474"/>
            <a:ext cx="3476439" cy="619026"/>
          </a:xfrm>
          <a:prstGeom prst="rect">
            <a:avLst/>
          </a:prstGeom>
          <a:solidFill>
            <a:srgbClr val="285F56"/>
          </a:solidFill>
        </p:spPr>
      </p:sp>
      <p:sp>
        <p:nvSpPr>
          <p:cNvPr id="10" name="Text 8"/>
          <p:cNvSpPr/>
          <p:nvPr/>
        </p:nvSpPr>
        <p:spPr>
          <a:xfrm>
            <a:off x="790456" y="3143250"/>
            <a:ext cx="3133547"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Dân tộc</a:t>
            </a:r>
            <a:endParaRPr lang="en-US" sz="2100" dirty="0"/>
          </a:p>
        </p:txBody>
      </p:sp>
      <p:sp>
        <p:nvSpPr>
          <p:cNvPr id="11" name="Text 9"/>
          <p:cNvSpPr/>
          <p:nvPr/>
        </p:nvSpPr>
        <p:spPr>
          <a:xfrm>
            <a:off x="619110" y="3846612"/>
            <a:ext cx="3266993" cy="1279922"/>
          </a:xfrm>
          <a:prstGeom prst="rect">
            <a:avLst/>
          </a:prstGeom>
          <a:noFill/>
        </p:spPr>
        <p:txBody>
          <a:bodyPr wrap="square" lIns="0" tIns="0" rIns="0" bIns="0" rtlCol="0" anchor="t">
            <a:normAutofit/>
          </a:bodyPr>
          <a:lstStyle/>
          <a:p>
            <a:pPr marL="0" indent="0" algn="l">
              <a:lnSpc>
                <a:spcPct val="100000"/>
              </a:lnSpc>
              <a:buNone/>
            </a:pPr>
            <a:r>
              <a:rPr lang="en-US" sz="2100" dirty="0">
                <a:solidFill>
                  <a:srgbClr val="222B2A"/>
                </a:solidFill>
                <a:latin typeface="Tinos" panose="02020603050405020304" pitchFamily="34" charset="0"/>
                <a:ea typeface="Tinos" panose="02020603050405020304" pitchFamily="34" charset="-122"/>
                <a:cs typeface="Tinos" panose="02020603050405020304" pitchFamily="34" charset="-120"/>
              </a:rPr>
              <a:t>Giữ gìn bản sắc và truyền thống tốt đẹp của dân tộc. Tiếp thu tinh hoa văn hóa nhân loại.</a:t>
            </a:r>
            <a:endParaRPr lang="en-US" sz="2100" dirty="0"/>
          </a:p>
        </p:txBody>
      </p:sp>
      <p:sp>
        <p:nvSpPr>
          <p:cNvPr id="12" name="Shape 10"/>
          <p:cNvSpPr/>
          <p:nvPr/>
        </p:nvSpPr>
        <p:spPr>
          <a:xfrm>
            <a:off x="4333767" y="3000474"/>
            <a:ext cx="3476538" cy="619026"/>
          </a:xfrm>
          <a:prstGeom prst="rect">
            <a:avLst/>
          </a:prstGeom>
          <a:solidFill>
            <a:srgbClr val="285F56"/>
          </a:solidFill>
        </p:spPr>
      </p:sp>
      <p:sp>
        <p:nvSpPr>
          <p:cNvPr id="13" name="Text 11"/>
          <p:cNvSpPr/>
          <p:nvPr/>
        </p:nvSpPr>
        <p:spPr>
          <a:xfrm>
            <a:off x="4505212" y="3143250"/>
            <a:ext cx="3133746"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Khoa học</a:t>
            </a:r>
            <a:endParaRPr lang="en-US" sz="2100" dirty="0"/>
          </a:p>
        </p:txBody>
      </p:sp>
      <p:sp>
        <p:nvSpPr>
          <p:cNvPr id="14" name="Text 12"/>
          <p:cNvSpPr/>
          <p:nvPr/>
        </p:nvSpPr>
        <p:spPr>
          <a:xfrm>
            <a:off x="4333767" y="3846612"/>
            <a:ext cx="3267192" cy="1279922"/>
          </a:xfrm>
          <a:prstGeom prst="rect">
            <a:avLst/>
          </a:prstGeom>
          <a:noFill/>
        </p:spPr>
        <p:txBody>
          <a:bodyPr wrap="square" lIns="0" tIns="0" rIns="0" bIns="0" rtlCol="0" anchor="t">
            <a:normAutofit/>
          </a:bodyPr>
          <a:lstStyle/>
          <a:p>
            <a:pPr marL="0" indent="0" algn="l">
              <a:lnSpc>
                <a:spcPct val="100000"/>
              </a:lnSpc>
              <a:buNone/>
            </a:pPr>
            <a:r>
              <a:rPr lang="en-US" sz="2100" dirty="0">
                <a:solidFill>
                  <a:srgbClr val="222B2A"/>
                </a:solidFill>
                <a:latin typeface="Tinos" panose="02020603050405020304" pitchFamily="34" charset="0"/>
                <a:ea typeface="Tinos" panose="02020603050405020304" pitchFamily="34" charset="-122"/>
                <a:cs typeface="Tinos" panose="02020603050405020304" pitchFamily="34" charset="-120"/>
              </a:rPr>
              <a:t>Tôn trọng sự thật, nâng cao tri thức và sàng lọc thông tin. Hướng tới tiến bộ, tránh tiếp nhận thụ động.</a:t>
            </a:r>
            <a:endParaRPr lang="en-US" sz="2100" dirty="0"/>
          </a:p>
        </p:txBody>
      </p:sp>
      <p:sp>
        <p:nvSpPr>
          <p:cNvPr id="15" name="Shape 13"/>
          <p:cNvSpPr/>
          <p:nvPr/>
        </p:nvSpPr>
        <p:spPr>
          <a:xfrm>
            <a:off x="8048622" y="3000474"/>
            <a:ext cx="3476538" cy="619026"/>
          </a:xfrm>
          <a:prstGeom prst="rect">
            <a:avLst/>
          </a:prstGeom>
          <a:solidFill>
            <a:srgbClr val="285F56"/>
          </a:solidFill>
        </p:spPr>
      </p:sp>
      <p:sp>
        <p:nvSpPr>
          <p:cNvPr id="16" name="Text 14"/>
          <p:cNvSpPr/>
          <p:nvPr/>
        </p:nvSpPr>
        <p:spPr>
          <a:xfrm>
            <a:off x="8219969" y="3143250"/>
            <a:ext cx="3133647" cy="319980"/>
          </a:xfrm>
          <a:prstGeom prst="rect">
            <a:avLst/>
          </a:prstGeom>
          <a:noFill/>
        </p:spPr>
        <p:txBody>
          <a:bodyPr wrap="none" lIns="0" tIns="0" rIns="0" bIns="0" rtlCol="0" anchor="t"/>
          <a:lstStyle/>
          <a:p>
            <a:pPr marL="0" indent="0" algn="l">
              <a:lnSpc>
                <a:spcPct val="100000"/>
              </a:lnSpc>
              <a:buNone/>
            </a:pPr>
            <a:r>
              <a:rPr lang="en-US" sz="21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Đại chúng</a:t>
            </a:r>
            <a:endParaRPr lang="en-US" sz="2100" dirty="0"/>
          </a:p>
        </p:txBody>
      </p:sp>
      <p:sp>
        <p:nvSpPr>
          <p:cNvPr id="17" name="Text 15"/>
          <p:cNvSpPr/>
          <p:nvPr/>
        </p:nvSpPr>
        <p:spPr>
          <a:xfrm>
            <a:off x="8048622" y="3846612"/>
            <a:ext cx="3267092" cy="1279922"/>
          </a:xfrm>
          <a:prstGeom prst="rect">
            <a:avLst/>
          </a:prstGeom>
          <a:noFill/>
        </p:spPr>
        <p:txBody>
          <a:bodyPr wrap="square" lIns="0" tIns="0" rIns="0" bIns="0" rtlCol="0" anchor="t">
            <a:normAutofit/>
          </a:bodyPr>
          <a:lstStyle/>
          <a:p>
            <a:pPr marL="0" indent="0" algn="l">
              <a:lnSpc>
                <a:spcPct val="100000"/>
              </a:lnSpc>
              <a:buNone/>
            </a:pPr>
            <a:r>
              <a:rPr lang="en-US" sz="2100" dirty="0">
                <a:solidFill>
                  <a:srgbClr val="222B2A"/>
                </a:solidFill>
                <a:latin typeface="Tinos" panose="02020603050405020304" pitchFamily="34" charset="0"/>
                <a:ea typeface="Tinos" panose="02020603050405020304" pitchFamily="34" charset="-122"/>
                <a:cs typeface="Tinos" panose="02020603050405020304" pitchFamily="34" charset="-120"/>
              </a:rPr>
              <a:t>Văn hóa phục vụ nhân dân và do nhân dân cùng xây dựng. Mỗi người góp phần tạo nên môi trường văn hóa.</a:t>
            </a:r>
            <a:endParaRPr lang="en-US" sz="2100" dirty="0"/>
          </a:p>
        </p:txBody>
      </p:sp>
      <p:sp>
        <p:nvSpPr>
          <p:cNvPr id="18" name="Shape 16"/>
          <p:cNvSpPr/>
          <p:nvPr/>
        </p:nvSpPr>
        <p:spPr>
          <a:xfrm>
            <a:off x="619110" y="5572224"/>
            <a:ext cx="10953674" cy="619125"/>
          </a:xfrm>
          <a:prstGeom prst="rect">
            <a:avLst/>
          </a:prstGeom>
          <a:solidFill>
            <a:srgbClr val="285F56"/>
          </a:solidFill>
        </p:spPr>
      </p:sp>
      <p:sp>
        <p:nvSpPr>
          <p:cNvPr id="19" name="Text 17"/>
          <p:cNvSpPr/>
          <p:nvPr/>
        </p:nvSpPr>
        <p:spPr>
          <a:xfrm>
            <a:off x="809605" y="5681762"/>
            <a:ext cx="11182269" cy="358080"/>
          </a:xfrm>
          <a:prstGeom prst="rect">
            <a:avLst/>
          </a:prstGeom>
          <a:noFill/>
        </p:spPr>
        <p:txBody>
          <a:bodyPr wrap="none" lIns="0" tIns="0" rIns="0" bIns="0" rtlCol="0" anchor="t"/>
          <a:lstStyle/>
          <a:p>
            <a:pPr marL="0" indent="0" algn="l">
              <a:lnSpc>
                <a:spcPct val="125000"/>
              </a:lnSpc>
              <a:buNone/>
            </a:pPr>
            <a:r>
              <a:rPr lang="en-US" sz="19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Vận dụng hiện nay: tư duy phản biện và ứng xử văn minh trên mạng</a:t>
            </a:r>
            <a:endParaRPr lang="en-US" sz="1900" dirty="0"/>
          </a:p>
        </p:txBody>
      </p:sp>
      <p:pic>
        <p:nvPicPr>
          <p:cNvPr id="20" name="Image 0" descr="preencoded.png"/>
          <p:cNvPicPr>
            <a:picLocks noChangeAspect="1"/>
          </p:cNvPicPr>
          <p:nvPr/>
        </p:nvPicPr>
        <p:blipFill>
          <a:blip r:embed="rId1"/>
          <a:stretch>
            <a:fillRect/>
          </a:stretch>
        </p:blipFill>
        <p:spPr>
          <a:xfrm>
            <a:off x="11077000" y="6559252"/>
            <a:ext cx="1071833" cy="2559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2871" cy="6858099"/>
          </a:xfrm>
          <a:prstGeom prst="rect">
            <a:avLst/>
          </a:prstGeom>
          <a:solidFill>
            <a:srgbClr val="8D292E"/>
          </a:solidFill>
        </p:spPr>
      </p:sp>
      <p:sp>
        <p:nvSpPr>
          <p:cNvPr id="3" name="Text 1"/>
          <p:cNvSpPr/>
          <p:nvPr/>
        </p:nvSpPr>
        <p:spPr>
          <a:xfrm>
            <a:off x="619110" y="247948"/>
            <a:ext cx="11087021" cy="257175"/>
          </a:xfrm>
          <a:prstGeom prst="rect">
            <a:avLst/>
          </a:prstGeom>
          <a:noFill/>
        </p:spPr>
        <p:txBody>
          <a:bodyPr wrap="none" lIns="0" tIns="0" rIns="0" bIns="0" rtlCol="0" anchor="t"/>
          <a:lstStyle/>
          <a:p>
            <a:pPr marL="0" indent="0" algn="l">
              <a:lnSpc>
                <a:spcPct val="125000"/>
              </a:lnSpc>
              <a:buNone/>
            </a:pPr>
            <a:r>
              <a:rPr lang="en-US" sz="13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04 · TƯ DUY PHẢN BIỆN</a:t>
            </a:r>
            <a:endParaRPr lang="en-US" sz="1350" dirty="0"/>
          </a:p>
        </p:txBody>
      </p:sp>
      <p:sp>
        <p:nvSpPr>
          <p:cNvPr id="4" name="Text 2"/>
          <p:cNvSpPr/>
          <p:nvPr/>
        </p:nvSpPr>
        <p:spPr>
          <a:xfrm>
            <a:off x="619110" y="725785"/>
            <a:ext cx="10953674" cy="457200"/>
          </a:xfrm>
          <a:prstGeom prst="rect">
            <a:avLst/>
          </a:prstGeom>
          <a:noFill/>
        </p:spPr>
        <p:txBody>
          <a:bodyPr wrap="none" lIns="0" tIns="0" rIns="0" bIns="0" rtlCol="0" anchor="t"/>
          <a:lstStyle/>
          <a:p>
            <a:pPr marL="0" indent="0" algn="l">
              <a:lnSpc>
                <a:spcPct val="100000"/>
              </a:lnSpc>
              <a:buNone/>
            </a:pPr>
            <a:r>
              <a:rPr lang="en-US" sz="3000" b="1" dirty="0">
                <a:solidFill>
                  <a:srgbClr val="222B2A"/>
                </a:solidFill>
                <a:latin typeface="Tinos Bold" panose="02020803070505020304" pitchFamily="34" charset="0"/>
                <a:ea typeface="Tinos Bold" panose="02020803070505020304" pitchFamily="34" charset="-122"/>
                <a:cs typeface="Tinos Bold" panose="02020803070505020304" pitchFamily="34" charset="-120"/>
              </a:rPr>
              <a:t>Tư duy phản biện dựa trên bằng chứng</a:t>
            </a:r>
            <a:endParaRPr lang="en-US" sz="3000" dirty="0"/>
          </a:p>
        </p:txBody>
      </p:sp>
      <p:sp>
        <p:nvSpPr>
          <p:cNvPr id="5" name="Shape 3"/>
          <p:cNvSpPr/>
          <p:nvPr/>
        </p:nvSpPr>
        <p:spPr>
          <a:xfrm>
            <a:off x="619110" y="6429474"/>
            <a:ext cx="10953674" cy="19050"/>
          </a:xfrm>
          <a:prstGeom prst="rect">
            <a:avLst/>
          </a:prstGeom>
          <a:solidFill>
            <a:srgbClr val="DED6CA"/>
          </a:solidFill>
        </p:spPr>
      </p:sp>
      <p:sp>
        <p:nvSpPr>
          <p:cNvPr id="6" name="Text 4"/>
          <p:cNvSpPr/>
          <p:nvPr/>
        </p:nvSpPr>
        <p:spPr>
          <a:xfrm>
            <a:off x="619110" y="6511131"/>
            <a:ext cx="10896526" cy="158055"/>
          </a:xfrm>
          <a:prstGeom prst="rect">
            <a:avLst/>
          </a:prstGeom>
          <a:noFill/>
        </p:spPr>
        <p:txBody>
          <a:bodyPr wrap="none" lIns="0" tIns="0" rIns="0" bIns="0" rtlCol="0" anchor="t"/>
          <a:lstStyle/>
          <a:p>
            <a:pPr marL="0" indent="0" algn="l">
              <a:lnSpc>
                <a:spcPct val="125000"/>
              </a:lnSpc>
              <a:buNone/>
            </a:pPr>
            <a:r>
              <a:rPr lang="en-US" sz="850" dirty="0">
                <a:solidFill>
                  <a:srgbClr val="66706A"/>
                </a:solidFill>
                <a:latin typeface="Tinos" panose="02020603050405020304" pitchFamily="34" charset="0"/>
                <a:ea typeface="Tinos" panose="02020603050405020304" pitchFamily="34" charset="-122"/>
                <a:cs typeface="Tinos" panose="02020603050405020304" pitchFamily="34" charset="-120"/>
              </a:rPr>
              <a:t>TƯ TƯỞNG HỒ CHÍ MINH · VẬN DỤNG TRONG ĐỜI SỐNG SINH VIÊN</a:t>
            </a:r>
            <a:endParaRPr lang="en-US" sz="850" dirty="0"/>
          </a:p>
        </p:txBody>
      </p:sp>
      <p:sp>
        <p:nvSpPr>
          <p:cNvPr id="7" name="Text 5"/>
          <p:cNvSpPr/>
          <p:nvPr/>
        </p:nvSpPr>
        <p:spPr>
          <a:xfrm>
            <a:off x="11048922" y="6474321"/>
            <a:ext cx="1133447" cy="215205"/>
          </a:xfrm>
          <a:prstGeom prst="rect">
            <a:avLst/>
          </a:prstGeom>
          <a:noFill/>
        </p:spPr>
        <p:txBody>
          <a:bodyPr wrap="none" lIns="0" tIns="0" rIns="0" bIns="0" rtlCol="0" anchor="t"/>
          <a:lstStyle/>
          <a:p>
            <a:pPr marL="0" indent="0" algn="l">
              <a:lnSpc>
                <a:spcPct val="125000"/>
              </a:lnSpc>
              <a:buNone/>
            </a:pPr>
            <a:r>
              <a:rPr lang="en-US" sz="11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10</a:t>
            </a:r>
            <a:endParaRPr lang="en-US" sz="1150" dirty="0"/>
          </a:p>
        </p:txBody>
      </p:sp>
      <p:sp>
        <p:nvSpPr>
          <p:cNvPr id="8" name="Text 6"/>
          <p:cNvSpPr/>
          <p:nvPr/>
        </p:nvSpPr>
        <p:spPr>
          <a:xfrm>
            <a:off x="619110" y="1844278"/>
            <a:ext cx="10953674" cy="332184"/>
          </a:xfrm>
          <a:prstGeom prst="rect">
            <a:avLst/>
          </a:prstGeom>
          <a:noFill/>
        </p:spPr>
        <p:txBody>
          <a:bodyPr wrap="none" lIns="0" tIns="0" rIns="0" bIns="0" rtlCol="0" anchor="t"/>
          <a:lstStyle/>
          <a:p>
            <a:pPr marL="0" indent="0" algn="l">
              <a:lnSpc>
                <a:spcPct val="100000"/>
              </a:lnSpc>
              <a:buNone/>
            </a:pPr>
            <a:r>
              <a:rPr lang="en-US" sz="2200" dirty="0">
                <a:solidFill>
                  <a:srgbClr val="222B2A"/>
                </a:solidFill>
                <a:latin typeface="Tinos" panose="02020603050405020304" pitchFamily="34" charset="0"/>
                <a:ea typeface="Tinos" panose="02020603050405020304" pitchFamily="34" charset="-122"/>
                <a:cs typeface="Tinos" panose="02020603050405020304" pitchFamily="34" charset="-120"/>
              </a:rPr>
              <a:t>Phản biện là đặt câu hỏi, xem xét bằng chứng và cân nhắc nhiều góc nhìn trước khi kết luận.</a:t>
            </a:r>
            <a:endParaRPr lang="en-US" sz="2200" dirty="0"/>
          </a:p>
        </p:txBody>
      </p:sp>
      <p:sp>
        <p:nvSpPr>
          <p:cNvPr id="9" name="Text 7"/>
          <p:cNvSpPr/>
          <p:nvPr/>
        </p:nvSpPr>
        <p:spPr>
          <a:xfrm>
            <a:off x="619110" y="2983309"/>
            <a:ext cx="523862" cy="457200"/>
          </a:xfrm>
          <a:prstGeom prst="rect">
            <a:avLst/>
          </a:prstGeom>
          <a:noFill/>
        </p:spPr>
        <p:txBody>
          <a:bodyPr wrap="none" lIns="0" tIns="0" rIns="0" bIns="0" rtlCol="0" anchor="t"/>
          <a:lstStyle/>
          <a:p>
            <a:pPr marL="0" indent="0" algn="l">
              <a:lnSpc>
                <a:spcPct val="100000"/>
              </a:lnSpc>
              <a:buNone/>
            </a:pPr>
            <a:r>
              <a:rPr lang="en-US" sz="3000" b="1" dirty="0">
                <a:solidFill>
                  <a:srgbClr val="C69745"/>
                </a:solidFill>
                <a:latin typeface="Tinos Bold" panose="02020803070505020304" pitchFamily="34" charset="0"/>
                <a:ea typeface="Tinos Bold" panose="02020803070505020304" pitchFamily="34" charset="-122"/>
                <a:cs typeface="Tinos Bold" panose="02020803070505020304" pitchFamily="34" charset="-120"/>
              </a:rPr>
              <a:t>1</a:t>
            </a:r>
            <a:endParaRPr lang="en-US" sz="3000" dirty="0"/>
          </a:p>
        </p:txBody>
      </p:sp>
      <p:sp>
        <p:nvSpPr>
          <p:cNvPr id="10" name="Text 8"/>
          <p:cNvSpPr/>
          <p:nvPr/>
        </p:nvSpPr>
        <p:spPr>
          <a:xfrm>
            <a:off x="1209645" y="3036987"/>
            <a:ext cx="2857528" cy="319980"/>
          </a:xfrm>
          <a:prstGeom prst="rect">
            <a:avLst/>
          </a:prstGeom>
          <a:noFill/>
        </p:spPr>
        <p:txBody>
          <a:bodyPr wrap="none" lIns="0" tIns="0" rIns="0" bIns="0" rtlCol="0" anchor="t"/>
          <a:lstStyle/>
          <a:p>
            <a:pPr marL="0" indent="0" algn="l">
              <a:lnSpc>
                <a:spcPct val="100000"/>
              </a:lnSpc>
              <a:buNone/>
            </a:pPr>
            <a:r>
              <a:rPr lang="en-US" sz="2100" b="1" dirty="0">
                <a:solidFill>
                  <a:srgbClr val="285F56"/>
                </a:solidFill>
                <a:latin typeface="Tinos Bold" panose="02020803070505020304" pitchFamily="34" charset="0"/>
                <a:ea typeface="Tinos Bold" panose="02020803070505020304" pitchFamily="34" charset="-122"/>
                <a:cs typeface="Tinos Bold" panose="02020803070505020304" pitchFamily="34" charset="-120"/>
              </a:rPr>
              <a:t>Đặt câu hỏi</a:t>
            </a:r>
            <a:endParaRPr lang="en-US" sz="2100" dirty="0"/>
          </a:p>
        </p:txBody>
      </p:sp>
      <p:sp>
        <p:nvSpPr>
          <p:cNvPr id="11" name="Text 9"/>
          <p:cNvSpPr/>
          <p:nvPr/>
        </p:nvSpPr>
        <p:spPr>
          <a:xfrm>
            <a:off x="619110" y="3818037"/>
            <a:ext cx="3324241" cy="959941"/>
          </a:xfrm>
          <a:prstGeom prst="rect">
            <a:avLst/>
          </a:prstGeom>
          <a:noFill/>
        </p:spPr>
        <p:txBody>
          <a:bodyPr wrap="square" lIns="0" tIns="0" rIns="0" bIns="0" rtlCol="0" anchor="t">
            <a:normAutofit/>
          </a:bodyPr>
          <a:lstStyle/>
          <a:p>
            <a:pPr marL="0" indent="0" algn="l">
              <a:lnSpc>
                <a:spcPct val="100000"/>
              </a:lnSpc>
              <a:buNone/>
            </a:pPr>
            <a:r>
              <a:rPr lang="en-US" sz="2100" dirty="0">
                <a:solidFill>
                  <a:srgbClr val="222B2A"/>
                </a:solidFill>
                <a:latin typeface="Tinos" panose="02020603050405020304" pitchFamily="34" charset="0"/>
                <a:ea typeface="Tinos" panose="02020603050405020304" pitchFamily="34" charset="-122"/>
                <a:cs typeface="Tinos" panose="02020603050405020304" pitchFamily="34" charset="-120"/>
              </a:rPr>
              <a:t>Ai đưa ra thông tin? Dựa trên dữ liệu nào? Có thiếu bối cảnh không?</a:t>
            </a:r>
            <a:endParaRPr lang="en-US" sz="2100" dirty="0"/>
          </a:p>
        </p:txBody>
      </p:sp>
      <p:sp>
        <p:nvSpPr>
          <p:cNvPr id="12" name="Text 10"/>
          <p:cNvSpPr/>
          <p:nvPr/>
        </p:nvSpPr>
        <p:spPr>
          <a:xfrm>
            <a:off x="4333866" y="2983309"/>
            <a:ext cx="523862" cy="457200"/>
          </a:xfrm>
          <a:prstGeom prst="rect">
            <a:avLst/>
          </a:prstGeom>
          <a:noFill/>
        </p:spPr>
        <p:txBody>
          <a:bodyPr wrap="none" lIns="0" tIns="0" rIns="0" bIns="0" rtlCol="0" anchor="t"/>
          <a:lstStyle/>
          <a:p>
            <a:pPr marL="0" indent="0" algn="l">
              <a:lnSpc>
                <a:spcPct val="100000"/>
              </a:lnSpc>
              <a:buNone/>
            </a:pPr>
            <a:r>
              <a:rPr lang="en-US" sz="3000" b="1" dirty="0">
                <a:solidFill>
                  <a:srgbClr val="C69745"/>
                </a:solidFill>
                <a:latin typeface="Tinos Bold" panose="02020803070505020304" pitchFamily="34" charset="0"/>
                <a:ea typeface="Tinos Bold" panose="02020803070505020304" pitchFamily="34" charset="-122"/>
                <a:cs typeface="Tinos Bold" panose="02020803070505020304" pitchFamily="34" charset="-120"/>
              </a:rPr>
              <a:t>2</a:t>
            </a:r>
            <a:endParaRPr lang="en-US" sz="3000" dirty="0"/>
          </a:p>
        </p:txBody>
      </p:sp>
      <p:sp>
        <p:nvSpPr>
          <p:cNvPr id="13" name="Text 11"/>
          <p:cNvSpPr/>
          <p:nvPr/>
        </p:nvSpPr>
        <p:spPr>
          <a:xfrm>
            <a:off x="4924401" y="3036987"/>
            <a:ext cx="2857528" cy="319980"/>
          </a:xfrm>
          <a:prstGeom prst="rect">
            <a:avLst/>
          </a:prstGeom>
          <a:noFill/>
        </p:spPr>
        <p:txBody>
          <a:bodyPr wrap="none" lIns="0" tIns="0" rIns="0" bIns="0" rtlCol="0" anchor="t"/>
          <a:lstStyle/>
          <a:p>
            <a:pPr marL="0" indent="0" algn="l">
              <a:lnSpc>
                <a:spcPct val="100000"/>
              </a:lnSpc>
              <a:buNone/>
            </a:pPr>
            <a:r>
              <a:rPr lang="en-US" sz="2100" b="1" dirty="0">
                <a:solidFill>
                  <a:srgbClr val="285F56"/>
                </a:solidFill>
                <a:latin typeface="Tinos Bold" panose="02020803070505020304" pitchFamily="34" charset="0"/>
                <a:ea typeface="Tinos Bold" panose="02020803070505020304" pitchFamily="34" charset="-122"/>
                <a:cs typeface="Tinos Bold" panose="02020803070505020304" pitchFamily="34" charset="-120"/>
              </a:rPr>
              <a:t>Đối chiếu nguồn</a:t>
            </a:r>
            <a:endParaRPr lang="en-US" sz="2100" dirty="0"/>
          </a:p>
        </p:txBody>
      </p:sp>
      <p:sp>
        <p:nvSpPr>
          <p:cNvPr id="14" name="Text 12"/>
          <p:cNvSpPr/>
          <p:nvPr/>
        </p:nvSpPr>
        <p:spPr>
          <a:xfrm>
            <a:off x="4333866" y="3818037"/>
            <a:ext cx="3324241" cy="959941"/>
          </a:xfrm>
          <a:prstGeom prst="rect">
            <a:avLst/>
          </a:prstGeom>
          <a:noFill/>
        </p:spPr>
        <p:txBody>
          <a:bodyPr wrap="square" lIns="0" tIns="0" rIns="0" bIns="0" rtlCol="0" anchor="t">
            <a:normAutofit/>
          </a:bodyPr>
          <a:lstStyle/>
          <a:p>
            <a:pPr marL="0" indent="0" algn="l">
              <a:lnSpc>
                <a:spcPct val="100000"/>
              </a:lnSpc>
              <a:buNone/>
            </a:pPr>
            <a:r>
              <a:rPr lang="en-US" sz="2100" dirty="0">
                <a:solidFill>
                  <a:srgbClr val="222B2A"/>
                </a:solidFill>
                <a:latin typeface="Tinos" panose="02020603050405020304" pitchFamily="34" charset="0"/>
                <a:ea typeface="Tinos" panose="02020603050405020304" pitchFamily="34" charset="-122"/>
                <a:cs typeface="Tinos" panose="02020603050405020304" pitchFamily="34" charset="-120"/>
              </a:rPr>
              <a:t>So sánh giáo trình, tài liệu chuyên ngành và dữ liệu thực tế.</a:t>
            </a:r>
            <a:endParaRPr lang="en-US" sz="2100" dirty="0"/>
          </a:p>
        </p:txBody>
      </p:sp>
      <p:sp>
        <p:nvSpPr>
          <p:cNvPr id="15" name="Text 13"/>
          <p:cNvSpPr/>
          <p:nvPr/>
        </p:nvSpPr>
        <p:spPr>
          <a:xfrm>
            <a:off x="8048622" y="2983309"/>
            <a:ext cx="523862" cy="457200"/>
          </a:xfrm>
          <a:prstGeom prst="rect">
            <a:avLst/>
          </a:prstGeom>
          <a:noFill/>
        </p:spPr>
        <p:txBody>
          <a:bodyPr wrap="none" lIns="0" tIns="0" rIns="0" bIns="0" rtlCol="0" anchor="t"/>
          <a:lstStyle/>
          <a:p>
            <a:pPr marL="0" indent="0" algn="l">
              <a:lnSpc>
                <a:spcPct val="100000"/>
              </a:lnSpc>
              <a:buNone/>
            </a:pPr>
            <a:r>
              <a:rPr lang="en-US" sz="3000" b="1" dirty="0">
                <a:solidFill>
                  <a:srgbClr val="C69745"/>
                </a:solidFill>
                <a:latin typeface="Tinos Bold" panose="02020803070505020304" pitchFamily="34" charset="0"/>
                <a:ea typeface="Tinos Bold" panose="02020803070505020304" pitchFamily="34" charset="-122"/>
                <a:cs typeface="Tinos Bold" panose="02020803070505020304" pitchFamily="34" charset="-120"/>
              </a:rPr>
              <a:t>3</a:t>
            </a:r>
            <a:endParaRPr lang="en-US" sz="3000" dirty="0"/>
          </a:p>
        </p:txBody>
      </p:sp>
      <p:sp>
        <p:nvSpPr>
          <p:cNvPr id="16" name="Text 14"/>
          <p:cNvSpPr/>
          <p:nvPr/>
        </p:nvSpPr>
        <p:spPr>
          <a:xfrm>
            <a:off x="8639157" y="3036987"/>
            <a:ext cx="2857528" cy="319980"/>
          </a:xfrm>
          <a:prstGeom prst="rect">
            <a:avLst/>
          </a:prstGeom>
          <a:noFill/>
        </p:spPr>
        <p:txBody>
          <a:bodyPr wrap="none" lIns="0" tIns="0" rIns="0" bIns="0" rtlCol="0" anchor="t"/>
          <a:lstStyle/>
          <a:p>
            <a:pPr marL="0" indent="0" algn="l">
              <a:lnSpc>
                <a:spcPct val="100000"/>
              </a:lnSpc>
              <a:buNone/>
            </a:pPr>
            <a:r>
              <a:rPr lang="en-US" sz="2100" b="1" dirty="0">
                <a:solidFill>
                  <a:srgbClr val="285F56"/>
                </a:solidFill>
                <a:latin typeface="Tinos Bold" panose="02020803070505020304" pitchFamily="34" charset="0"/>
                <a:ea typeface="Tinos Bold" panose="02020803070505020304" pitchFamily="34" charset="-122"/>
                <a:cs typeface="Tinos Bold" panose="02020803070505020304" pitchFamily="34" charset="-120"/>
              </a:rPr>
              <a:t>Kết luận có căn cứ</a:t>
            </a:r>
            <a:endParaRPr lang="en-US" sz="2100" dirty="0"/>
          </a:p>
        </p:txBody>
      </p:sp>
      <p:sp>
        <p:nvSpPr>
          <p:cNvPr id="17" name="Text 15"/>
          <p:cNvSpPr/>
          <p:nvPr/>
        </p:nvSpPr>
        <p:spPr>
          <a:xfrm>
            <a:off x="8048622" y="3818037"/>
            <a:ext cx="3324241" cy="959941"/>
          </a:xfrm>
          <a:prstGeom prst="rect">
            <a:avLst/>
          </a:prstGeom>
          <a:noFill/>
        </p:spPr>
        <p:txBody>
          <a:bodyPr wrap="square" lIns="0" tIns="0" rIns="0" bIns="0" rtlCol="0" anchor="t">
            <a:normAutofit/>
          </a:bodyPr>
          <a:lstStyle/>
          <a:p>
            <a:pPr marL="0" indent="0" algn="l">
              <a:lnSpc>
                <a:spcPct val="100000"/>
              </a:lnSpc>
              <a:buNone/>
            </a:pPr>
            <a:r>
              <a:rPr lang="en-US" sz="2100" dirty="0">
                <a:solidFill>
                  <a:srgbClr val="222B2A"/>
                </a:solidFill>
                <a:latin typeface="Tinos" panose="02020603050405020304" pitchFamily="34" charset="0"/>
                <a:ea typeface="Tinos" panose="02020603050405020304" pitchFamily="34" charset="-122"/>
                <a:cs typeface="Tinos" panose="02020603050405020304" pitchFamily="34" charset="-120"/>
              </a:rPr>
              <a:t>Nhận biết điểm hợp lý, chỉ ra điểm yếu và sẵn sàng sửa nhận định của mình.</a:t>
            </a:r>
            <a:endParaRPr lang="en-US" sz="2100" dirty="0"/>
          </a:p>
        </p:txBody>
      </p:sp>
      <p:sp>
        <p:nvSpPr>
          <p:cNvPr id="18" name="Shape 16"/>
          <p:cNvSpPr/>
          <p:nvPr/>
        </p:nvSpPr>
        <p:spPr>
          <a:xfrm>
            <a:off x="619110" y="5572224"/>
            <a:ext cx="10953674" cy="619125"/>
          </a:xfrm>
          <a:prstGeom prst="rect">
            <a:avLst/>
          </a:prstGeom>
          <a:solidFill>
            <a:srgbClr val="285F56"/>
          </a:solidFill>
        </p:spPr>
      </p:sp>
      <p:sp>
        <p:nvSpPr>
          <p:cNvPr id="19" name="Text 17"/>
          <p:cNvSpPr/>
          <p:nvPr/>
        </p:nvSpPr>
        <p:spPr>
          <a:xfrm>
            <a:off x="809605" y="5681762"/>
            <a:ext cx="11182269" cy="358080"/>
          </a:xfrm>
          <a:prstGeom prst="rect">
            <a:avLst/>
          </a:prstGeom>
          <a:noFill/>
        </p:spPr>
        <p:txBody>
          <a:bodyPr wrap="none" lIns="0" tIns="0" rIns="0" bIns="0" rtlCol="0" anchor="t"/>
          <a:lstStyle/>
          <a:p>
            <a:pPr marL="0" indent="0" algn="l">
              <a:lnSpc>
                <a:spcPct val="125000"/>
              </a:lnSpc>
              <a:buNone/>
            </a:pPr>
            <a:r>
              <a:rPr lang="en-US" sz="19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Phản biện vào lập luận, dùng bằng chứng và tôn trọng người trao đổi</a:t>
            </a:r>
            <a:endParaRPr lang="en-US" sz="1900" dirty="0"/>
          </a:p>
        </p:txBody>
      </p:sp>
      <p:pic>
        <p:nvPicPr>
          <p:cNvPr id="20" name="Image 0" descr="preencoded.png"/>
          <p:cNvPicPr>
            <a:picLocks noChangeAspect="1"/>
          </p:cNvPicPr>
          <p:nvPr/>
        </p:nvPicPr>
        <p:blipFill>
          <a:blip r:embed="rId1"/>
          <a:stretch>
            <a:fillRect/>
          </a:stretch>
        </p:blipFill>
        <p:spPr>
          <a:xfrm>
            <a:off x="11077000" y="6559252"/>
            <a:ext cx="1071833" cy="2559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2871" cy="6858099"/>
          </a:xfrm>
          <a:prstGeom prst="rect">
            <a:avLst/>
          </a:prstGeom>
          <a:solidFill>
            <a:srgbClr val="8D292E"/>
          </a:solidFill>
        </p:spPr>
      </p:sp>
      <p:sp>
        <p:nvSpPr>
          <p:cNvPr id="3" name="Text 1"/>
          <p:cNvSpPr/>
          <p:nvPr/>
        </p:nvSpPr>
        <p:spPr>
          <a:xfrm>
            <a:off x="619110" y="247948"/>
            <a:ext cx="11087021" cy="257175"/>
          </a:xfrm>
          <a:prstGeom prst="rect">
            <a:avLst/>
          </a:prstGeom>
          <a:noFill/>
        </p:spPr>
        <p:txBody>
          <a:bodyPr wrap="none" lIns="0" tIns="0" rIns="0" bIns="0" rtlCol="0" anchor="t"/>
          <a:lstStyle/>
          <a:p>
            <a:pPr marL="0" indent="0" algn="l">
              <a:lnSpc>
                <a:spcPct val="125000"/>
              </a:lnSpc>
              <a:buNone/>
            </a:pPr>
            <a:r>
              <a:rPr lang="en-US" sz="13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04 · ỨNG XỬ VĂN MINH</a:t>
            </a:r>
            <a:endParaRPr lang="en-US" sz="1350" dirty="0"/>
          </a:p>
        </p:txBody>
      </p:sp>
      <p:sp>
        <p:nvSpPr>
          <p:cNvPr id="4" name="Text 2"/>
          <p:cNvSpPr/>
          <p:nvPr/>
        </p:nvSpPr>
        <p:spPr>
          <a:xfrm>
            <a:off x="619110" y="725785"/>
            <a:ext cx="10953674" cy="457200"/>
          </a:xfrm>
          <a:prstGeom prst="rect">
            <a:avLst/>
          </a:prstGeom>
          <a:noFill/>
        </p:spPr>
        <p:txBody>
          <a:bodyPr wrap="none" lIns="0" tIns="0" rIns="0" bIns="0" rtlCol="0" anchor="t"/>
          <a:lstStyle/>
          <a:p>
            <a:pPr marL="0" indent="0" algn="l">
              <a:lnSpc>
                <a:spcPct val="100000"/>
              </a:lnSpc>
              <a:buNone/>
            </a:pPr>
            <a:r>
              <a:rPr lang="en-US" sz="3000" b="1" dirty="0">
                <a:solidFill>
                  <a:srgbClr val="222B2A"/>
                </a:solidFill>
                <a:latin typeface="Tinos Bold" panose="02020803070505020304" pitchFamily="34" charset="0"/>
                <a:ea typeface="Tinos Bold" panose="02020803070505020304" pitchFamily="34" charset="-122"/>
                <a:cs typeface="Tinos Bold" panose="02020803070505020304" pitchFamily="34" charset="-120"/>
              </a:rPr>
              <a:t>Văn hóa ứng xử trên không gian mạng</a:t>
            </a:r>
            <a:endParaRPr lang="en-US" sz="3000" dirty="0"/>
          </a:p>
        </p:txBody>
      </p:sp>
      <p:sp>
        <p:nvSpPr>
          <p:cNvPr id="5" name="Shape 3"/>
          <p:cNvSpPr/>
          <p:nvPr/>
        </p:nvSpPr>
        <p:spPr>
          <a:xfrm>
            <a:off x="619110" y="6429474"/>
            <a:ext cx="10953674" cy="19050"/>
          </a:xfrm>
          <a:prstGeom prst="rect">
            <a:avLst/>
          </a:prstGeom>
          <a:solidFill>
            <a:srgbClr val="DED6CA"/>
          </a:solidFill>
        </p:spPr>
      </p:sp>
      <p:sp>
        <p:nvSpPr>
          <p:cNvPr id="6" name="Text 4"/>
          <p:cNvSpPr/>
          <p:nvPr/>
        </p:nvSpPr>
        <p:spPr>
          <a:xfrm>
            <a:off x="619110" y="6511131"/>
            <a:ext cx="10896526" cy="158055"/>
          </a:xfrm>
          <a:prstGeom prst="rect">
            <a:avLst/>
          </a:prstGeom>
          <a:noFill/>
        </p:spPr>
        <p:txBody>
          <a:bodyPr wrap="none" lIns="0" tIns="0" rIns="0" bIns="0" rtlCol="0" anchor="t"/>
          <a:lstStyle/>
          <a:p>
            <a:pPr marL="0" indent="0" algn="l">
              <a:lnSpc>
                <a:spcPct val="125000"/>
              </a:lnSpc>
              <a:buNone/>
            </a:pPr>
            <a:r>
              <a:rPr lang="en-US" sz="850" dirty="0">
                <a:solidFill>
                  <a:srgbClr val="66706A"/>
                </a:solidFill>
                <a:latin typeface="Tinos" panose="02020603050405020304" pitchFamily="34" charset="0"/>
                <a:ea typeface="Tinos" panose="02020603050405020304" pitchFamily="34" charset="-122"/>
                <a:cs typeface="Tinos" panose="02020603050405020304" pitchFamily="34" charset="-120"/>
              </a:rPr>
              <a:t>TƯ TƯỞNG HỒ CHÍ MINH · VẬN DỤNG TRONG ĐỜI SỐNG SINH VIÊN</a:t>
            </a:r>
            <a:endParaRPr lang="en-US" sz="850" dirty="0"/>
          </a:p>
        </p:txBody>
      </p:sp>
      <p:sp>
        <p:nvSpPr>
          <p:cNvPr id="7" name="Text 5"/>
          <p:cNvSpPr/>
          <p:nvPr/>
        </p:nvSpPr>
        <p:spPr>
          <a:xfrm>
            <a:off x="11048922" y="6474321"/>
            <a:ext cx="1133447" cy="215205"/>
          </a:xfrm>
          <a:prstGeom prst="rect">
            <a:avLst/>
          </a:prstGeom>
          <a:noFill/>
        </p:spPr>
        <p:txBody>
          <a:bodyPr wrap="none" lIns="0" tIns="0" rIns="0" bIns="0" rtlCol="0" anchor="t"/>
          <a:lstStyle/>
          <a:p>
            <a:pPr marL="0" indent="0" algn="l">
              <a:lnSpc>
                <a:spcPct val="125000"/>
              </a:lnSpc>
              <a:buNone/>
            </a:pPr>
            <a:r>
              <a:rPr lang="en-US" sz="11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11</a:t>
            </a:r>
            <a:endParaRPr lang="en-US" sz="1150" dirty="0"/>
          </a:p>
        </p:txBody>
      </p:sp>
      <p:sp>
        <p:nvSpPr>
          <p:cNvPr id="8" name="Text 6"/>
          <p:cNvSpPr/>
          <p:nvPr/>
        </p:nvSpPr>
        <p:spPr>
          <a:xfrm>
            <a:off x="619110" y="1889720"/>
            <a:ext cx="5143471" cy="342900"/>
          </a:xfrm>
          <a:prstGeom prst="rect">
            <a:avLst/>
          </a:prstGeom>
          <a:noFill/>
        </p:spPr>
        <p:txBody>
          <a:bodyPr wrap="none" lIns="0" tIns="0" rIns="0" bIns="0" rtlCol="0" anchor="t"/>
          <a:lstStyle/>
          <a:p>
            <a:pPr marL="0" indent="0" algn="l">
              <a:lnSpc>
                <a:spcPct val="100000"/>
              </a:lnSpc>
              <a:buNone/>
            </a:pPr>
            <a:r>
              <a:rPr lang="en-US" sz="2250" b="1" dirty="0">
                <a:solidFill>
                  <a:srgbClr val="285F56"/>
                </a:solidFill>
                <a:latin typeface="Tinos Bold" panose="02020803070505020304" pitchFamily="34" charset="0"/>
                <a:ea typeface="Tinos Bold" panose="02020803070505020304" pitchFamily="34" charset="-122"/>
                <a:cs typeface="Tinos Bold" panose="02020803070505020304" pitchFamily="34" charset="-120"/>
              </a:rPr>
              <a:t>Ngôn ngữ lịch sự, tôn trọng</a:t>
            </a:r>
            <a:endParaRPr lang="en-US" sz="2250" dirty="0"/>
          </a:p>
        </p:txBody>
      </p:sp>
      <p:sp>
        <p:nvSpPr>
          <p:cNvPr id="9" name="Text 7"/>
          <p:cNvSpPr/>
          <p:nvPr/>
        </p:nvSpPr>
        <p:spPr>
          <a:xfrm>
            <a:off x="619110" y="2513112"/>
            <a:ext cx="5086322" cy="959941"/>
          </a:xfrm>
          <a:prstGeom prst="rect">
            <a:avLst/>
          </a:prstGeom>
          <a:noFill/>
        </p:spPr>
        <p:txBody>
          <a:bodyPr wrap="square" lIns="0" tIns="0" rIns="0" bIns="0" rtlCol="0" anchor="t">
            <a:normAutofit/>
          </a:bodyPr>
          <a:lstStyle/>
          <a:p>
            <a:pPr marL="0" indent="0" algn="l">
              <a:lnSpc>
                <a:spcPct val="100000"/>
              </a:lnSpc>
              <a:buNone/>
            </a:pPr>
            <a:r>
              <a:rPr lang="en-US" sz="2100" dirty="0">
                <a:solidFill>
                  <a:srgbClr val="222B2A"/>
                </a:solidFill>
                <a:latin typeface="Tinos" panose="02020603050405020304" pitchFamily="34" charset="0"/>
                <a:ea typeface="Tinos" panose="02020603050405020304" pitchFamily="34" charset="-122"/>
                <a:cs typeface="Tinos" panose="02020603050405020304" pitchFamily="34" charset="-120"/>
              </a:rPr>
              <a:t>Trao đổi bằng lập luận. Không miệt thị, công kích cá nhân hoặc hùa theo bình luận xúc phạm.</a:t>
            </a:r>
            <a:endParaRPr lang="en-US" sz="2100" dirty="0"/>
          </a:p>
        </p:txBody>
      </p:sp>
      <p:sp>
        <p:nvSpPr>
          <p:cNvPr id="10" name="Text 8"/>
          <p:cNvSpPr/>
          <p:nvPr/>
        </p:nvSpPr>
        <p:spPr>
          <a:xfrm>
            <a:off x="619110" y="3728145"/>
            <a:ext cx="5143471" cy="342900"/>
          </a:xfrm>
          <a:prstGeom prst="rect">
            <a:avLst/>
          </a:prstGeom>
          <a:noFill/>
        </p:spPr>
        <p:txBody>
          <a:bodyPr wrap="none" lIns="0" tIns="0" rIns="0" bIns="0" rtlCol="0" anchor="t"/>
          <a:lstStyle/>
          <a:p>
            <a:pPr marL="0" indent="0" algn="l">
              <a:lnSpc>
                <a:spcPct val="100000"/>
              </a:lnSpc>
              <a:buNone/>
            </a:pPr>
            <a:r>
              <a:rPr lang="en-US" sz="2250" b="1" dirty="0">
                <a:solidFill>
                  <a:srgbClr val="285F56"/>
                </a:solidFill>
                <a:latin typeface="Tinos Bold" panose="02020803070505020304" pitchFamily="34" charset="0"/>
                <a:ea typeface="Tinos Bold" panose="02020803070505020304" pitchFamily="34" charset="-122"/>
                <a:cs typeface="Tinos Bold" panose="02020803070505020304" pitchFamily="34" charset="-120"/>
              </a:rPr>
              <a:t>Bản quyền và trách nhiệm</a:t>
            </a:r>
            <a:endParaRPr lang="en-US" sz="2250" dirty="0"/>
          </a:p>
        </p:txBody>
      </p:sp>
      <p:sp>
        <p:nvSpPr>
          <p:cNvPr id="11" name="Text 9"/>
          <p:cNvSpPr/>
          <p:nvPr/>
        </p:nvSpPr>
        <p:spPr>
          <a:xfrm>
            <a:off x="619110" y="4370487"/>
            <a:ext cx="5086322" cy="639961"/>
          </a:xfrm>
          <a:prstGeom prst="rect">
            <a:avLst/>
          </a:prstGeom>
          <a:noFill/>
        </p:spPr>
        <p:txBody>
          <a:bodyPr wrap="square" lIns="0" tIns="0" rIns="0" bIns="0" rtlCol="0" anchor="t">
            <a:normAutofit/>
          </a:bodyPr>
          <a:lstStyle/>
          <a:p>
            <a:pPr marL="0" indent="0" algn="l">
              <a:lnSpc>
                <a:spcPct val="100000"/>
              </a:lnSpc>
              <a:buNone/>
            </a:pPr>
            <a:r>
              <a:rPr lang="en-US" sz="2100" dirty="0">
                <a:solidFill>
                  <a:srgbClr val="222B2A"/>
                </a:solidFill>
                <a:latin typeface="Tinos" panose="02020603050405020304" pitchFamily="34" charset="0"/>
                <a:ea typeface="Tinos" panose="02020603050405020304" pitchFamily="34" charset="-122"/>
                <a:cs typeface="Tinos" panose="02020603050405020304" pitchFamily="34" charset="-120"/>
              </a:rPr>
              <a:t>Ghi nguồn tài liệu, bảo vệ thông tin cá nhân và chịu trách nhiệm với nội dung đăng tải.</a:t>
            </a:r>
            <a:endParaRPr lang="en-US" sz="2100" dirty="0"/>
          </a:p>
        </p:txBody>
      </p:sp>
      <p:sp>
        <p:nvSpPr>
          <p:cNvPr id="12" name="Shape 10"/>
          <p:cNvSpPr/>
          <p:nvPr/>
        </p:nvSpPr>
        <p:spPr>
          <a:xfrm>
            <a:off x="6000699" y="1952625"/>
            <a:ext cx="19050" cy="3381474"/>
          </a:xfrm>
          <a:prstGeom prst="rect">
            <a:avLst/>
          </a:prstGeom>
          <a:solidFill>
            <a:srgbClr val="DED6CA"/>
          </a:solidFill>
        </p:spPr>
      </p:sp>
      <p:sp>
        <p:nvSpPr>
          <p:cNvPr id="13" name="Shape 11"/>
          <p:cNvSpPr/>
          <p:nvPr/>
        </p:nvSpPr>
        <p:spPr>
          <a:xfrm>
            <a:off x="6429313" y="1952625"/>
            <a:ext cx="5143471" cy="666750"/>
          </a:xfrm>
          <a:prstGeom prst="rect">
            <a:avLst/>
          </a:prstGeom>
          <a:solidFill>
            <a:srgbClr val="8D292E"/>
          </a:solidFill>
        </p:spPr>
      </p:sp>
      <p:sp>
        <p:nvSpPr>
          <p:cNvPr id="14" name="Text 12"/>
          <p:cNvSpPr/>
          <p:nvPr/>
        </p:nvSpPr>
        <p:spPr>
          <a:xfrm>
            <a:off x="6600759" y="2095500"/>
            <a:ext cx="4800579" cy="342900"/>
          </a:xfrm>
          <a:prstGeom prst="rect">
            <a:avLst/>
          </a:prstGeom>
          <a:noFill/>
        </p:spPr>
        <p:txBody>
          <a:bodyPr wrap="none" lIns="0" tIns="0" rIns="0" bIns="0" rtlCol="0" anchor="t"/>
          <a:lstStyle/>
          <a:p>
            <a:pPr marL="0" indent="0" algn="l">
              <a:lnSpc>
                <a:spcPct val="100000"/>
              </a:lnSpc>
              <a:buNone/>
            </a:pPr>
            <a:r>
              <a:rPr lang="en-US" sz="225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Ví dụ: tin đồn nghỉ học</a:t>
            </a:r>
            <a:endParaRPr lang="en-US" sz="2250" dirty="0"/>
          </a:p>
        </p:txBody>
      </p:sp>
      <p:sp>
        <p:nvSpPr>
          <p:cNvPr id="15" name="Text 13"/>
          <p:cNvSpPr/>
          <p:nvPr/>
        </p:nvSpPr>
        <p:spPr>
          <a:xfrm>
            <a:off x="6429313" y="2798862"/>
            <a:ext cx="5038698" cy="639961"/>
          </a:xfrm>
          <a:prstGeom prst="rect">
            <a:avLst/>
          </a:prstGeom>
          <a:noFill/>
        </p:spPr>
        <p:txBody>
          <a:bodyPr wrap="square" lIns="0" tIns="0" rIns="0" bIns="0" rtlCol="0" anchor="t">
            <a:normAutofit/>
          </a:bodyPr>
          <a:lstStyle/>
          <a:p>
            <a:pPr marL="0" indent="0" algn="l">
              <a:lnSpc>
                <a:spcPct val="100000"/>
              </a:lnSpc>
              <a:buNone/>
            </a:pPr>
            <a:r>
              <a:rPr lang="en-US" sz="2100" dirty="0">
                <a:solidFill>
                  <a:srgbClr val="222B2A"/>
                </a:solidFill>
                <a:latin typeface="Tinos" panose="02020603050405020304" pitchFamily="34" charset="0"/>
                <a:ea typeface="Tinos" panose="02020603050405020304" pitchFamily="34" charset="-122"/>
                <a:cs typeface="Tinos" panose="02020603050405020304" pitchFamily="34" charset="-120"/>
              </a:rPr>
              <a:t>Nhóm lớp nhận tin “Trường cho nghỉ cả tuần vì bão” nhưng chưa có nguồn xác nhận.</a:t>
            </a:r>
            <a:endParaRPr lang="en-US" sz="2100" dirty="0"/>
          </a:p>
        </p:txBody>
      </p:sp>
      <p:sp>
        <p:nvSpPr>
          <p:cNvPr id="16" name="Text 14"/>
          <p:cNvSpPr/>
          <p:nvPr/>
        </p:nvSpPr>
        <p:spPr>
          <a:xfrm>
            <a:off x="6429313" y="3922812"/>
            <a:ext cx="5038698" cy="959941"/>
          </a:xfrm>
          <a:prstGeom prst="rect">
            <a:avLst/>
          </a:prstGeom>
          <a:noFill/>
        </p:spPr>
        <p:txBody>
          <a:bodyPr wrap="square" lIns="0" tIns="0" rIns="0" bIns="0" rtlCol="0" anchor="t">
            <a:normAutofit/>
          </a:bodyPr>
          <a:lstStyle/>
          <a:p>
            <a:pPr marL="0" indent="0" algn="l">
              <a:lnSpc>
                <a:spcPct val="100000"/>
              </a:lnSpc>
              <a:buNone/>
            </a:pPr>
            <a:r>
              <a:rPr lang="en-US" sz="2100" dirty="0">
                <a:solidFill>
                  <a:srgbClr val="222B2A"/>
                </a:solidFill>
                <a:latin typeface="Tinos" panose="02020603050405020304" pitchFamily="34" charset="0"/>
                <a:ea typeface="Tinos" panose="02020603050405020304" pitchFamily="34" charset="-122"/>
                <a:cs typeface="Tinos" panose="02020603050405020304" pitchFamily="34" charset="-120"/>
              </a:rPr>
              <a:t>Kiểm tra kênh chính thức, đọc thời điểm và phạm vi thông báo. Chưa xác nhận thì không chia sẻ như tin chắc chắn.</a:t>
            </a:r>
            <a:endParaRPr lang="en-US" sz="2100" dirty="0"/>
          </a:p>
        </p:txBody>
      </p:sp>
      <p:sp>
        <p:nvSpPr>
          <p:cNvPr id="17" name="Shape 15"/>
          <p:cNvSpPr/>
          <p:nvPr/>
        </p:nvSpPr>
        <p:spPr>
          <a:xfrm>
            <a:off x="619110" y="5572224"/>
            <a:ext cx="10953674" cy="619125"/>
          </a:xfrm>
          <a:prstGeom prst="rect">
            <a:avLst/>
          </a:prstGeom>
          <a:solidFill>
            <a:srgbClr val="285F56"/>
          </a:solidFill>
        </p:spPr>
      </p:sp>
      <p:sp>
        <p:nvSpPr>
          <p:cNvPr id="18" name="Text 16"/>
          <p:cNvSpPr/>
          <p:nvPr/>
        </p:nvSpPr>
        <p:spPr>
          <a:xfrm>
            <a:off x="809605" y="5681762"/>
            <a:ext cx="11182269" cy="358080"/>
          </a:xfrm>
          <a:prstGeom prst="rect">
            <a:avLst/>
          </a:prstGeom>
          <a:noFill/>
        </p:spPr>
        <p:txBody>
          <a:bodyPr wrap="none" lIns="0" tIns="0" rIns="0" bIns="0" rtlCol="0" anchor="t"/>
          <a:lstStyle/>
          <a:p>
            <a:pPr marL="0" indent="0" algn="l">
              <a:lnSpc>
                <a:spcPct val="125000"/>
              </a:lnSpc>
              <a:buNone/>
            </a:pPr>
            <a:r>
              <a:rPr lang="en-US" sz="19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Nếu đã chia sẻ thông tin sai, chủ động đính chính</a:t>
            </a:r>
            <a:endParaRPr lang="en-US" sz="1900" dirty="0"/>
          </a:p>
        </p:txBody>
      </p:sp>
      <p:pic>
        <p:nvPicPr>
          <p:cNvPr id="19" name="Image 0" descr="preencoded.png"/>
          <p:cNvPicPr>
            <a:picLocks noChangeAspect="1"/>
          </p:cNvPicPr>
          <p:nvPr/>
        </p:nvPicPr>
        <p:blipFill>
          <a:blip r:embed="rId1"/>
          <a:stretch>
            <a:fillRect/>
          </a:stretch>
        </p:blipFill>
        <p:spPr>
          <a:xfrm>
            <a:off x="11077000" y="6559252"/>
            <a:ext cx="1071833" cy="2559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2871" cy="6858099"/>
          </a:xfrm>
          <a:prstGeom prst="rect">
            <a:avLst/>
          </a:prstGeom>
          <a:solidFill>
            <a:srgbClr val="8D292E"/>
          </a:solidFill>
        </p:spPr>
      </p:sp>
      <p:sp>
        <p:nvSpPr>
          <p:cNvPr id="3" name="Text 1"/>
          <p:cNvSpPr/>
          <p:nvPr/>
        </p:nvSpPr>
        <p:spPr>
          <a:xfrm>
            <a:off x="619110" y="247948"/>
            <a:ext cx="11087021" cy="257175"/>
          </a:xfrm>
          <a:prstGeom prst="rect">
            <a:avLst/>
          </a:prstGeom>
          <a:noFill/>
        </p:spPr>
        <p:txBody>
          <a:bodyPr wrap="none" lIns="0" tIns="0" rIns="0" bIns="0" rtlCol="0" anchor="t"/>
          <a:lstStyle/>
          <a:p>
            <a:pPr marL="0" indent="0" algn="l">
              <a:lnSpc>
                <a:spcPct val="125000"/>
              </a:lnSpc>
              <a:buNone/>
            </a:pPr>
            <a:r>
              <a:rPr lang="en-US" sz="13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05 · THÓI QUEN CỦA SINH VIÊN</a:t>
            </a:r>
            <a:endParaRPr lang="en-US" sz="1350" dirty="0"/>
          </a:p>
        </p:txBody>
      </p:sp>
      <p:sp>
        <p:nvSpPr>
          <p:cNvPr id="4" name="Text 2"/>
          <p:cNvSpPr/>
          <p:nvPr/>
        </p:nvSpPr>
        <p:spPr>
          <a:xfrm>
            <a:off x="619110" y="725785"/>
            <a:ext cx="10953674" cy="457200"/>
          </a:xfrm>
          <a:prstGeom prst="rect">
            <a:avLst/>
          </a:prstGeom>
          <a:noFill/>
        </p:spPr>
        <p:txBody>
          <a:bodyPr wrap="none" lIns="0" tIns="0" rIns="0" bIns="0" rtlCol="0" anchor="t"/>
          <a:lstStyle/>
          <a:p>
            <a:pPr marL="0" indent="0" algn="l">
              <a:lnSpc>
                <a:spcPct val="100000"/>
              </a:lnSpc>
              <a:buNone/>
            </a:pPr>
            <a:r>
              <a:rPr lang="en-US" sz="3000" b="1" dirty="0">
                <a:solidFill>
                  <a:srgbClr val="222B2A"/>
                </a:solidFill>
                <a:latin typeface="Tinos Bold" panose="02020803070505020304" pitchFamily="34" charset="0"/>
                <a:ea typeface="Tinos Bold" panose="02020803070505020304" pitchFamily="34" charset="-122"/>
                <a:cs typeface="Tinos Bold" panose="02020803070505020304" pitchFamily="34" charset="-120"/>
              </a:rPr>
              <a:t>Cụ thể hóa thành thói quen hằng ngày</a:t>
            </a:r>
            <a:endParaRPr lang="en-US" sz="3000" dirty="0"/>
          </a:p>
        </p:txBody>
      </p:sp>
      <p:sp>
        <p:nvSpPr>
          <p:cNvPr id="5" name="Shape 3"/>
          <p:cNvSpPr/>
          <p:nvPr/>
        </p:nvSpPr>
        <p:spPr>
          <a:xfrm>
            <a:off x="619110" y="6429474"/>
            <a:ext cx="10953674" cy="19050"/>
          </a:xfrm>
          <a:prstGeom prst="rect">
            <a:avLst/>
          </a:prstGeom>
          <a:solidFill>
            <a:srgbClr val="DED6CA"/>
          </a:solidFill>
        </p:spPr>
      </p:sp>
      <p:sp>
        <p:nvSpPr>
          <p:cNvPr id="6" name="Text 4"/>
          <p:cNvSpPr/>
          <p:nvPr/>
        </p:nvSpPr>
        <p:spPr>
          <a:xfrm>
            <a:off x="619110" y="6511131"/>
            <a:ext cx="10896526" cy="158055"/>
          </a:xfrm>
          <a:prstGeom prst="rect">
            <a:avLst/>
          </a:prstGeom>
          <a:noFill/>
        </p:spPr>
        <p:txBody>
          <a:bodyPr wrap="none" lIns="0" tIns="0" rIns="0" bIns="0" rtlCol="0" anchor="t"/>
          <a:lstStyle/>
          <a:p>
            <a:pPr marL="0" indent="0" algn="l">
              <a:lnSpc>
                <a:spcPct val="125000"/>
              </a:lnSpc>
              <a:buNone/>
            </a:pPr>
            <a:r>
              <a:rPr lang="en-US" sz="850" dirty="0">
                <a:solidFill>
                  <a:srgbClr val="66706A"/>
                </a:solidFill>
                <a:latin typeface="Tinos" panose="02020603050405020304" pitchFamily="34" charset="0"/>
                <a:ea typeface="Tinos" panose="02020603050405020304" pitchFamily="34" charset="-122"/>
                <a:cs typeface="Tinos" panose="02020603050405020304" pitchFamily="34" charset="-120"/>
              </a:rPr>
              <a:t>TƯ TƯỞNG HỒ CHÍ MINH · VẬN DỤNG TRONG ĐỜI SỐNG SINH VIÊN</a:t>
            </a:r>
            <a:endParaRPr lang="en-US" sz="850" dirty="0"/>
          </a:p>
        </p:txBody>
      </p:sp>
      <p:sp>
        <p:nvSpPr>
          <p:cNvPr id="7" name="Text 5"/>
          <p:cNvSpPr/>
          <p:nvPr/>
        </p:nvSpPr>
        <p:spPr>
          <a:xfrm>
            <a:off x="11048922" y="6474321"/>
            <a:ext cx="1133447" cy="215205"/>
          </a:xfrm>
          <a:prstGeom prst="rect">
            <a:avLst/>
          </a:prstGeom>
          <a:noFill/>
        </p:spPr>
        <p:txBody>
          <a:bodyPr wrap="none" lIns="0" tIns="0" rIns="0" bIns="0" rtlCol="0" anchor="t"/>
          <a:lstStyle/>
          <a:p>
            <a:pPr marL="0" indent="0" algn="l">
              <a:lnSpc>
                <a:spcPct val="125000"/>
              </a:lnSpc>
              <a:buNone/>
            </a:pPr>
            <a:r>
              <a:rPr lang="en-US" sz="11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12</a:t>
            </a:r>
            <a:endParaRPr lang="en-US" sz="1150" dirty="0"/>
          </a:p>
        </p:txBody>
      </p:sp>
      <p:graphicFrame>
        <p:nvGraphicFramePr>
          <p:cNvPr id="13" name="Table 0"/>
          <p:cNvGraphicFramePr>
            <a:graphicFrameLocks noGrp="1"/>
          </p:cNvGraphicFramePr>
          <p:nvPr/>
        </p:nvGraphicFramePr>
        <p:xfrm>
          <a:off x="619110" y="1952625"/>
          <a:ext cx="10953675" cy="3428915"/>
        </p:xfrm>
        <a:graphic>
          <a:graphicData uri="http://schemas.openxmlformats.org/drawingml/2006/table">
            <a:tbl>
              <a:tblPr/>
              <a:tblGrid>
                <a:gridCol w="2762507"/>
                <a:gridCol w="8191168"/>
              </a:tblGrid>
              <a:tr h="685783">
                <a:tc>
                  <a:txBody>
                    <a:bodyPr/>
                    <a:lstStyle/>
                    <a:p>
                      <a:pPr marL="0" indent="0" algn="l">
                        <a:buNone/>
                      </a:pPr>
                      <a:r>
                        <a:rPr lang="en-US" sz="1800" b="1" dirty="0">
                          <a:solidFill>
                            <a:srgbClr val="FFFFFF"/>
                          </a:solidFill>
                          <a:latin typeface="Tinos" panose="02020603050405020304" pitchFamily="34" charset="0"/>
                          <a:ea typeface="Tinos" panose="02020603050405020304" pitchFamily="34" charset="-122"/>
                          <a:cs typeface="Tinos" panose="02020603050405020304" pitchFamily="34" charset="-120"/>
                        </a:rPr>
                        <a:t>Mục tiêu</a:t>
                      </a:r>
                      <a:endParaRPr lang="en-US" sz="1800" dirty="0">
                        <a:latin typeface="Tinos" panose="02020603050405020304" pitchFamily="34" charset="0"/>
                        <a:ea typeface="Tinos" panose="02020603050405020304" pitchFamily="34" charset="0"/>
                        <a:cs typeface="Tinos" panose="02020603050405020304" pitchFamily="34" charset="0"/>
                      </a:endParaRPr>
                    </a:p>
                  </a:txBody>
                  <a:tcPr marL="91438" marR="81913" marT="45719" marB="45719" anchor="ctr">
                    <a:lnL w="12700" cap="flat" cmpd="sng" algn="ctr">
                      <a:solidFill>
                        <a:srgbClr val="D8D0C3"/>
                      </a:solidFill>
                      <a:prstDash val="solid"/>
                      <a:round/>
                      <a:headEnd type="none" w="med" len="med"/>
                      <a:tailEnd type="none" w="med" len="med"/>
                    </a:lnL>
                    <a:lnR w="12700" cap="flat" cmpd="sng" algn="ctr">
                      <a:solidFill>
                        <a:srgbClr val="D8D0C3"/>
                      </a:solidFill>
                      <a:prstDash val="solid"/>
                      <a:round/>
                      <a:headEnd type="none" w="med" len="med"/>
                      <a:tailEnd type="none" w="med" len="med"/>
                    </a:lnR>
                    <a:lnT w="12700" cap="flat" cmpd="sng" algn="ctr">
                      <a:solidFill>
                        <a:srgbClr val="D8D0C3"/>
                      </a:solidFill>
                      <a:prstDash val="solid"/>
                      <a:round/>
                      <a:headEnd type="none" w="med" len="med"/>
                      <a:tailEnd type="none" w="med" len="med"/>
                    </a:lnT>
                    <a:lnB w="12700" cap="flat" cmpd="sng" algn="ctr">
                      <a:solidFill>
                        <a:srgbClr val="D8D0C3"/>
                      </a:solidFill>
                      <a:prstDash val="solid"/>
                      <a:round/>
                      <a:headEnd type="none" w="med" len="med"/>
                      <a:tailEnd type="none" w="med" len="med"/>
                    </a:lnB>
                    <a:solidFill>
                      <a:srgbClr val="285F56"/>
                    </a:solidFill>
                  </a:tcPr>
                </a:tc>
                <a:tc>
                  <a:txBody>
                    <a:bodyPr/>
                    <a:lstStyle/>
                    <a:p>
                      <a:pPr marL="0" indent="0" algn="l">
                        <a:buNone/>
                      </a:pPr>
                      <a:r>
                        <a:rPr lang="en-US" sz="1800" b="1" dirty="0">
                          <a:solidFill>
                            <a:srgbClr val="FFFFFF"/>
                          </a:solidFill>
                          <a:latin typeface="Tinos" panose="02020603050405020304" pitchFamily="34" charset="0"/>
                          <a:ea typeface="Tinos" panose="02020603050405020304" pitchFamily="34" charset="-122"/>
                          <a:cs typeface="Tinos" panose="02020603050405020304" pitchFamily="34" charset="-120"/>
                        </a:rPr>
                        <a:t>Thói quen cụ thể</a:t>
                      </a:r>
                      <a:endParaRPr lang="en-US" sz="1800" dirty="0">
                        <a:latin typeface="Tinos" panose="02020603050405020304" pitchFamily="34" charset="0"/>
                        <a:ea typeface="Tinos" panose="02020603050405020304" pitchFamily="34" charset="0"/>
                        <a:cs typeface="Tinos" panose="02020603050405020304" pitchFamily="34" charset="0"/>
                      </a:endParaRPr>
                    </a:p>
                  </a:txBody>
                  <a:tcPr marL="91438" marR="91438" marT="45719" marB="45719" anchor="ctr">
                    <a:lnL w="12700" cap="flat" cmpd="sng" algn="ctr">
                      <a:solidFill>
                        <a:srgbClr val="D8D0C3"/>
                      </a:solidFill>
                      <a:prstDash val="solid"/>
                      <a:round/>
                      <a:headEnd type="none" w="med" len="med"/>
                      <a:tailEnd type="none" w="med" len="med"/>
                    </a:lnL>
                    <a:lnR w="12700" cap="flat" cmpd="sng" algn="ctr">
                      <a:solidFill>
                        <a:srgbClr val="D8D0C3"/>
                      </a:solidFill>
                      <a:prstDash val="solid"/>
                      <a:round/>
                      <a:headEnd type="none" w="med" len="med"/>
                      <a:tailEnd type="none" w="med" len="med"/>
                    </a:lnR>
                    <a:lnT w="12700" cap="flat" cmpd="sng" algn="ctr">
                      <a:solidFill>
                        <a:srgbClr val="D8D0C3"/>
                      </a:solidFill>
                      <a:prstDash val="solid"/>
                      <a:round/>
                      <a:headEnd type="none" w="med" len="med"/>
                      <a:tailEnd type="none" w="med" len="med"/>
                    </a:lnT>
                    <a:lnB w="12700" cap="flat" cmpd="sng" algn="ctr">
                      <a:solidFill>
                        <a:srgbClr val="D8D0C3"/>
                      </a:solidFill>
                      <a:prstDash val="solid"/>
                      <a:round/>
                      <a:headEnd type="none" w="med" len="med"/>
                      <a:tailEnd type="none" w="med" len="med"/>
                    </a:lnB>
                    <a:solidFill>
                      <a:srgbClr val="285F56"/>
                    </a:solidFill>
                  </a:tcPr>
                </a:tc>
              </a:tr>
              <a:tr h="685783">
                <a:tc>
                  <a:txBody>
                    <a:bodyPr/>
                    <a:lstStyle/>
                    <a:p>
                      <a:pPr marL="0" indent="0" algn="l">
                        <a:buNone/>
                      </a:pPr>
                      <a:r>
                        <a:rPr lang="en-US" sz="1800" b="1" dirty="0">
                          <a:solidFill>
                            <a:srgbClr val="222B2A"/>
                          </a:solidFill>
                          <a:latin typeface="Tinos" panose="02020603050405020304" pitchFamily="34" charset="0"/>
                          <a:ea typeface="Tinos" panose="02020603050405020304" pitchFamily="34" charset="-122"/>
                          <a:cs typeface="Tinos" panose="02020603050405020304" pitchFamily="34" charset="-120"/>
                        </a:rPr>
                        <a:t>Kinh tế</a:t>
                      </a:r>
                      <a:endParaRPr lang="en-US" sz="1800" dirty="0">
                        <a:latin typeface="Tinos" panose="02020603050405020304" pitchFamily="34" charset="0"/>
                        <a:ea typeface="Tinos" panose="02020603050405020304" pitchFamily="34" charset="0"/>
                        <a:cs typeface="Tinos" panose="02020603050405020304" pitchFamily="34" charset="0"/>
                      </a:endParaRPr>
                    </a:p>
                  </a:txBody>
                  <a:tcPr marL="91438" marR="81913" marT="45719" marB="45719" anchor="ctr">
                    <a:lnL w="12700" cap="flat" cmpd="sng" algn="ctr">
                      <a:solidFill>
                        <a:srgbClr val="D8D0C3"/>
                      </a:solidFill>
                      <a:prstDash val="solid"/>
                      <a:round/>
                      <a:headEnd type="none" w="med" len="med"/>
                      <a:tailEnd type="none" w="med" len="med"/>
                    </a:lnL>
                    <a:lnR w="12700" cap="flat" cmpd="sng" algn="ctr">
                      <a:solidFill>
                        <a:srgbClr val="D8D0C3"/>
                      </a:solidFill>
                      <a:prstDash val="solid"/>
                      <a:round/>
                      <a:headEnd type="none" w="med" len="med"/>
                      <a:tailEnd type="none" w="med" len="med"/>
                    </a:lnR>
                    <a:lnT w="12700" cap="flat" cmpd="sng" algn="ctr">
                      <a:solidFill>
                        <a:srgbClr val="D8D0C3"/>
                      </a:solidFill>
                      <a:prstDash val="solid"/>
                      <a:round/>
                      <a:headEnd type="none" w="med" len="med"/>
                      <a:tailEnd type="none" w="med" len="med"/>
                    </a:lnT>
                    <a:lnB w="12700" cap="flat" cmpd="sng" algn="ctr">
                      <a:solidFill>
                        <a:srgbClr val="D8D0C3"/>
                      </a:solidFill>
                      <a:prstDash val="solid"/>
                      <a:round/>
                      <a:headEnd type="none" w="med" len="med"/>
                      <a:tailEnd type="none" w="med" len="med"/>
                    </a:lnB>
                    <a:solidFill>
                      <a:srgbClr val="ECE7DD"/>
                    </a:solidFill>
                  </a:tcPr>
                </a:tc>
                <a:tc>
                  <a:txBody>
                    <a:bodyPr/>
                    <a:lstStyle/>
                    <a:p>
                      <a:pPr marL="0" indent="0" algn="l">
                        <a:buNone/>
                      </a:pPr>
                      <a:r>
                        <a:rPr lang="en-US" sz="1800" dirty="0">
                          <a:solidFill>
                            <a:srgbClr val="222B2A"/>
                          </a:solidFill>
                          <a:latin typeface="Tinos" panose="02020603050405020304" pitchFamily="34" charset="0"/>
                          <a:ea typeface="Tinos" panose="02020603050405020304" pitchFamily="34" charset="-122"/>
                          <a:cs typeface="Tinos" panose="02020603050405020304" pitchFamily="34" charset="-120"/>
                        </a:rPr>
                        <a:t>Lập kế hoạch theo ngày hoặc tuần, đúng giờ, đúng hạn và tiết kiệm nguồn lực.</a:t>
                      </a:r>
                      <a:endParaRPr lang="en-US" sz="1800" dirty="0">
                        <a:latin typeface="Tinos" panose="02020603050405020304" pitchFamily="34" charset="0"/>
                        <a:ea typeface="Tinos" panose="02020603050405020304" pitchFamily="34" charset="0"/>
                        <a:cs typeface="Tinos" panose="02020603050405020304" pitchFamily="34" charset="0"/>
                      </a:endParaRPr>
                    </a:p>
                  </a:txBody>
                  <a:tcPr marL="91438" marR="91438" marT="45719" marB="45719" anchor="ctr">
                    <a:lnL w="12700" cap="flat" cmpd="sng" algn="ctr">
                      <a:solidFill>
                        <a:srgbClr val="D8D0C3"/>
                      </a:solidFill>
                      <a:prstDash val="solid"/>
                      <a:round/>
                      <a:headEnd type="none" w="med" len="med"/>
                      <a:tailEnd type="none" w="med" len="med"/>
                    </a:lnL>
                    <a:lnR w="12700" cap="flat" cmpd="sng" algn="ctr">
                      <a:solidFill>
                        <a:srgbClr val="D8D0C3"/>
                      </a:solidFill>
                      <a:prstDash val="solid"/>
                      <a:round/>
                      <a:headEnd type="none" w="med" len="med"/>
                      <a:tailEnd type="none" w="med" len="med"/>
                    </a:lnR>
                    <a:lnT w="12700" cap="flat" cmpd="sng" algn="ctr">
                      <a:solidFill>
                        <a:srgbClr val="D8D0C3"/>
                      </a:solidFill>
                      <a:prstDash val="solid"/>
                      <a:round/>
                      <a:headEnd type="none" w="med" len="med"/>
                      <a:tailEnd type="none" w="med" len="med"/>
                    </a:lnT>
                    <a:lnB w="12700" cap="flat" cmpd="sng" algn="ctr">
                      <a:solidFill>
                        <a:srgbClr val="D8D0C3"/>
                      </a:solidFill>
                      <a:prstDash val="solid"/>
                      <a:round/>
                      <a:headEnd type="none" w="med" len="med"/>
                      <a:tailEnd type="none" w="med" len="med"/>
                    </a:lnB>
                    <a:solidFill>
                      <a:srgbClr val="ECE7DD"/>
                    </a:solidFill>
                  </a:tcPr>
                </a:tc>
              </a:tr>
              <a:tr h="685783">
                <a:tc>
                  <a:txBody>
                    <a:bodyPr/>
                    <a:lstStyle/>
                    <a:p>
                      <a:pPr marL="0" indent="0" algn="l">
                        <a:buNone/>
                      </a:pPr>
                      <a:r>
                        <a:rPr lang="en-US" sz="1800" b="1" dirty="0">
                          <a:solidFill>
                            <a:srgbClr val="222B2A"/>
                          </a:solidFill>
                          <a:latin typeface="Tinos" panose="02020603050405020304" pitchFamily="34" charset="0"/>
                          <a:ea typeface="Tinos" panose="02020603050405020304" pitchFamily="34" charset="-122"/>
                          <a:cs typeface="Tinos" panose="02020603050405020304" pitchFamily="34" charset="-120"/>
                        </a:rPr>
                        <a:t>Khoa học – kỹ thuật</a:t>
                      </a:r>
                      <a:endParaRPr lang="en-US" sz="1800" dirty="0">
                        <a:latin typeface="Tinos" panose="02020603050405020304" pitchFamily="34" charset="0"/>
                        <a:ea typeface="Tinos" panose="02020603050405020304" pitchFamily="34" charset="0"/>
                        <a:cs typeface="Tinos" panose="02020603050405020304" pitchFamily="34" charset="0"/>
                      </a:endParaRPr>
                    </a:p>
                  </a:txBody>
                  <a:tcPr marL="91438" marR="81913" marT="45719" marB="45719" anchor="ctr">
                    <a:lnL w="12700" cap="flat" cmpd="sng" algn="ctr">
                      <a:solidFill>
                        <a:srgbClr val="D8D0C3"/>
                      </a:solidFill>
                      <a:prstDash val="solid"/>
                      <a:round/>
                      <a:headEnd type="none" w="med" len="med"/>
                      <a:tailEnd type="none" w="med" len="med"/>
                    </a:lnL>
                    <a:lnR w="12700" cap="flat" cmpd="sng" algn="ctr">
                      <a:solidFill>
                        <a:srgbClr val="D8D0C3"/>
                      </a:solidFill>
                      <a:prstDash val="solid"/>
                      <a:round/>
                      <a:headEnd type="none" w="med" len="med"/>
                      <a:tailEnd type="none" w="med" len="med"/>
                    </a:lnR>
                    <a:lnT w="12700" cap="flat" cmpd="sng" algn="ctr">
                      <a:solidFill>
                        <a:srgbClr val="D8D0C3"/>
                      </a:solidFill>
                      <a:prstDash val="solid"/>
                      <a:round/>
                      <a:headEnd type="none" w="med" len="med"/>
                      <a:tailEnd type="none" w="med" len="med"/>
                    </a:lnT>
                    <a:lnB w="12700" cap="flat" cmpd="sng" algn="ctr">
                      <a:solidFill>
                        <a:srgbClr val="D8D0C3"/>
                      </a:solidFill>
                      <a:prstDash val="solid"/>
                      <a:round/>
                      <a:headEnd type="none" w="med" len="med"/>
                      <a:tailEnd type="none" w="med" len="med"/>
                    </a:lnB>
                    <a:solidFill>
                      <a:srgbClr val="F7F3EB"/>
                    </a:solidFill>
                  </a:tcPr>
                </a:tc>
                <a:tc>
                  <a:txBody>
                    <a:bodyPr/>
                    <a:lstStyle/>
                    <a:p>
                      <a:pPr marL="0" indent="0" algn="l">
                        <a:buNone/>
                      </a:pPr>
                      <a:r>
                        <a:rPr lang="en-US" sz="1800" dirty="0">
                          <a:solidFill>
                            <a:srgbClr val="222B2A"/>
                          </a:solidFill>
                          <a:latin typeface="Tinos" panose="02020603050405020304" pitchFamily="34" charset="0"/>
                          <a:ea typeface="Tinos" panose="02020603050405020304" pitchFamily="34" charset="-122"/>
                          <a:cs typeface="Tinos" panose="02020603050405020304" pitchFamily="34" charset="-120"/>
                        </a:rPr>
                        <a:t>Hiểu nguyên lý, thực hành và tự đánh giá. Biến bài tập thành sản phẩm có ích. Sử dụng AI có trách nhiệm</a:t>
                      </a:r>
                      <a:endParaRPr lang="en-US" sz="1800" dirty="0">
                        <a:latin typeface="Tinos" panose="02020603050405020304" pitchFamily="34" charset="0"/>
                        <a:ea typeface="Tinos" panose="02020603050405020304" pitchFamily="34" charset="0"/>
                        <a:cs typeface="Tinos" panose="02020603050405020304" pitchFamily="34" charset="0"/>
                      </a:endParaRPr>
                    </a:p>
                  </a:txBody>
                  <a:tcPr marL="91438" marR="91438" marT="45719" marB="45719" anchor="ctr">
                    <a:lnL w="12700" cap="flat" cmpd="sng" algn="ctr">
                      <a:solidFill>
                        <a:srgbClr val="D8D0C3"/>
                      </a:solidFill>
                      <a:prstDash val="solid"/>
                      <a:round/>
                      <a:headEnd type="none" w="med" len="med"/>
                      <a:tailEnd type="none" w="med" len="med"/>
                    </a:lnL>
                    <a:lnR w="12700" cap="flat" cmpd="sng" algn="ctr">
                      <a:solidFill>
                        <a:srgbClr val="D8D0C3"/>
                      </a:solidFill>
                      <a:prstDash val="solid"/>
                      <a:round/>
                      <a:headEnd type="none" w="med" len="med"/>
                      <a:tailEnd type="none" w="med" len="med"/>
                    </a:lnR>
                    <a:lnT w="12700" cap="flat" cmpd="sng" algn="ctr">
                      <a:solidFill>
                        <a:srgbClr val="D8D0C3"/>
                      </a:solidFill>
                      <a:prstDash val="solid"/>
                      <a:round/>
                      <a:headEnd type="none" w="med" len="med"/>
                      <a:tailEnd type="none" w="med" len="med"/>
                    </a:lnT>
                    <a:lnB w="12700" cap="flat" cmpd="sng" algn="ctr">
                      <a:solidFill>
                        <a:srgbClr val="D8D0C3"/>
                      </a:solidFill>
                      <a:prstDash val="solid"/>
                      <a:round/>
                      <a:headEnd type="none" w="med" len="med"/>
                      <a:tailEnd type="none" w="med" len="med"/>
                    </a:lnB>
                    <a:solidFill>
                      <a:srgbClr val="F7F3EB"/>
                    </a:solidFill>
                  </a:tcPr>
                </a:tc>
              </a:tr>
              <a:tr h="685783">
                <a:tc>
                  <a:txBody>
                    <a:bodyPr/>
                    <a:lstStyle/>
                    <a:p>
                      <a:pPr marL="0" indent="0" algn="l">
                        <a:buNone/>
                      </a:pPr>
                      <a:r>
                        <a:rPr lang="en-US" sz="1800" b="1" dirty="0">
                          <a:solidFill>
                            <a:srgbClr val="222B2A"/>
                          </a:solidFill>
                          <a:latin typeface="Tinos" panose="02020603050405020304" pitchFamily="34" charset="0"/>
                          <a:ea typeface="Tinos" panose="02020603050405020304" pitchFamily="34" charset="-122"/>
                          <a:cs typeface="Tinos" panose="02020603050405020304" pitchFamily="34" charset="-120"/>
                          <a:sym typeface="+mn-ea"/>
                        </a:rPr>
                        <a:t>Văn hóa</a:t>
                      </a:r>
                      <a:endParaRPr lang="en-US" sz="1800" dirty="0">
                        <a:latin typeface="Tinos" panose="02020603050405020304" pitchFamily="34" charset="0"/>
                        <a:ea typeface="Tinos" panose="02020603050405020304" pitchFamily="34" charset="0"/>
                        <a:cs typeface="Tinos" panose="02020603050405020304" pitchFamily="34" charset="0"/>
                      </a:endParaRPr>
                    </a:p>
                  </a:txBody>
                  <a:tcPr marL="91438" marR="81913" marT="45719" marB="45719" anchor="ctr">
                    <a:lnL w="12700" cap="flat" cmpd="sng" algn="ctr">
                      <a:solidFill>
                        <a:srgbClr val="D8D0C3"/>
                      </a:solidFill>
                      <a:prstDash val="solid"/>
                      <a:round/>
                      <a:headEnd type="none" w="med" len="med"/>
                      <a:tailEnd type="none" w="med" len="med"/>
                    </a:lnL>
                    <a:lnR w="12700" cap="flat" cmpd="sng" algn="ctr">
                      <a:solidFill>
                        <a:srgbClr val="D8D0C3"/>
                      </a:solidFill>
                      <a:prstDash val="solid"/>
                      <a:round/>
                      <a:headEnd type="none" w="med" len="med"/>
                      <a:tailEnd type="none" w="med" len="med"/>
                    </a:lnR>
                    <a:lnT w="12700" cap="flat" cmpd="sng" algn="ctr">
                      <a:solidFill>
                        <a:srgbClr val="D8D0C3"/>
                      </a:solidFill>
                      <a:prstDash val="solid"/>
                      <a:round/>
                      <a:headEnd type="none" w="med" len="med"/>
                      <a:tailEnd type="none" w="med" len="med"/>
                    </a:lnT>
                    <a:lnB w="12700" cap="flat" cmpd="sng" algn="ctr">
                      <a:solidFill>
                        <a:srgbClr val="D8D0C3"/>
                      </a:solidFill>
                      <a:prstDash val="solid"/>
                      <a:round/>
                      <a:headEnd type="none" w="med" len="med"/>
                      <a:tailEnd type="none" w="med" len="med"/>
                    </a:lnB>
                    <a:solidFill>
                      <a:srgbClr val="ECE7DD"/>
                    </a:solidFill>
                  </a:tcPr>
                </a:tc>
                <a:tc>
                  <a:txBody>
                    <a:bodyPr/>
                    <a:lstStyle/>
                    <a:p>
                      <a:pPr marL="0" indent="0" algn="l">
                        <a:buNone/>
                      </a:pPr>
                      <a:r>
                        <a:rPr lang="en-US" sz="1800" dirty="0">
                          <a:solidFill>
                            <a:srgbClr val="222B2A"/>
                          </a:solidFill>
                          <a:latin typeface="Tinos" panose="02020603050405020304" pitchFamily="34" charset="0"/>
                          <a:ea typeface="Tinos" panose="02020603050405020304" pitchFamily="34" charset="-122"/>
                          <a:cs typeface="Tinos" panose="02020603050405020304" pitchFamily="34" charset="-120"/>
                          <a:sym typeface="+mn-ea"/>
                        </a:rPr>
                        <a:t>Góp ý lịch sự không miệt thị công kích cá nhân và làm một việc có ích cho tập thể.</a:t>
                      </a:r>
                      <a:endParaRPr lang="en-US" sz="1800" dirty="0">
                        <a:latin typeface="Tinos" panose="02020603050405020304" pitchFamily="34" charset="0"/>
                        <a:ea typeface="Tinos" panose="02020603050405020304" pitchFamily="34" charset="0"/>
                        <a:cs typeface="Tinos" panose="02020603050405020304" pitchFamily="34" charset="0"/>
                      </a:endParaRPr>
                    </a:p>
                  </a:txBody>
                  <a:tcPr marL="91438" marR="91438" marT="45719" marB="45719" anchor="ctr">
                    <a:lnL w="12700" cap="flat" cmpd="sng" algn="ctr">
                      <a:solidFill>
                        <a:srgbClr val="D8D0C3"/>
                      </a:solidFill>
                      <a:prstDash val="solid"/>
                      <a:round/>
                      <a:headEnd type="none" w="med" len="med"/>
                      <a:tailEnd type="none" w="med" len="med"/>
                    </a:lnL>
                    <a:lnR w="12700" cap="flat" cmpd="sng" algn="ctr">
                      <a:solidFill>
                        <a:srgbClr val="D8D0C3"/>
                      </a:solidFill>
                      <a:prstDash val="solid"/>
                      <a:round/>
                      <a:headEnd type="none" w="med" len="med"/>
                      <a:tailEnd type="none" w="med" len="med"/>
                    </a:lnR>
                    <a:lnT w="12700" cap="flat" cmpd="sng" algn="ctr">
                      <a:solidFill>
                        <a:srgbClr val="D8D0C3"/>
                      </a:solidFill>
                      <a:prstDash val="solid"/>
                      <a:round/>
                      <a:headEnd type="none" w="med" len="med"/>
                      <a:tailEnd type="none" w="med" len="med"/>
                    </a:lnT>
                    <a:lnB w="12700" cap="flat" cmpd="sng" algn="ctr">
                      <a:solidFill>
                        <a:srgbClr val="D8D0C3"/>
                      </a:solidFill>
                      <a:prstDash val="solid"/>
                      <a:round/>
                      <a:headEnd type="none" w="med" len="med"/>
                      <a:tailEnd type="none" w="med" len="med"/>
                    </a:lnB>
                    <a:solidFill>
                      <a:srgbClr val="ECE7DD"/>
                    </a:solidFill>
                  </a:tcPr>
                </a:tc>
              </a:tr>
            </a:tbl>
          </a:graphicData>
        </a:graphic>
      </p:graphicFrame>
      <p:sp>
        <p:nvSpPr>
          <p:cNvPr id="9" name="Shape 6"/>
          <p:cNvSpPr/>
          <p:nvPr/>
        </p:nvSpPr>
        <p:spPr>
          <a:xfrm>
            <a:off x="619110" y="5572224"/>
            <a:ext cx="10953674" cy="619125"/>
          </a:xfrm>
          <a:prstGeom prst="rect">
            <a:avLst/>
          </a:prstGeom>
          <a:solidFill>
            <a:srgbClr val="285F56"/>
          </a:solidFill>
        </p:spPr>
      </p:sp>
      <p:sp>
        <p:nvSpPr>
          <p:cNvPr id="10" name="Text 7"/>
          <p:cNvSpPr/>
          <p:nvPr/>
        </p:nvSpPr>
        <p:spPr>
          <a:xfrm>
            <a:off x="809605" y="5681762"/>
            <a:ext cx="11182269" cy="358080"/>
          </a:xfrm>
          <a:prstGeom prst="rect">
            <a:avLst/>
          </a:prstGeom>
          <a:noFill/>
        </p:spPr>
        <p:txBody>
          <a:bodyPr wrap="none" lIns="0" tIns="0" rIns="0" bIns="0" rtlCol="0" anchor="t"/>
          <a:lstStyle/>
          <a:p>
            <a:pPr marL="0" indent="0" algn="l">
              <a:lnSpc>
                <a:spcPct val="125000"/>
              </a:lnSpc>
              <a:buNone/>
            </a:pPr>
            <a:r>
              <a:rPr lang="en-US" sz="19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Mỗi tối tự ghi một việc đã làm và một điều cần sửa</a:t>
            </a:r>
            <a:endParaRPr lang="en-US" sz="1900" dirty="0"/>
          </a:p>
        </p:txBody>
      </p:sp>
      <p:pic>
        <p:nvPicPr>
          <p:cNvPr id="11" name="Image 0" descr="preencoded.png"/>
          <p:cNvPicPr>
            <a:picLocks noChangeAspect="1"/>
          </p:cNvPicPr>
          <p:nvPr/>
        </p:nvPicPr>
        <p:blipFill>
          <a:blip r:embed="rId1"/>
          <a:stretch>
            <a:fillRect/>
          </a:stretch>
        </p:blipFill>
        <p:spPr>
          <a:xfrm>
            <a:off x="11077000" y="6559252"/>
            <a:ext cx="1071833" cy="25598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2871" cy="6858099"/>
          </a:xfrm>
          <a:prstGeom prst="rect">
            <a:avLst/>
          </a:prstGeom>
          <a:solidFill>
            <a:srgbClr val="8D292E"/>
          </a:solidFill>
        </p:spPr>
      </p:sp>
      <p:sp>
        <p:nvSpPr>
          <p:cNvPr id="3" name="Text 1"/>
          <p:cNvSpPr/>
          <p:nvPr/>
        </p:nvSpPr>
        <p:spPr>
          <a:xfrm>
            <a:off x="619110" y="247948"/>
            <a:ext cx="11087021" cy="257175"/>
          </a:xfrm>
          <a:prstGeom prst="rect">
            <a:avLst/>
          </a:prstGeom>
          <a:noFill/>
        </p:spPr>
        <p:txBody>
          <a:bodyPr wrap="none" lIns="0" tIns="0" rIns="0" bIns="0" rtlCol="0" anchor="t"/>
          <a:lstStyle/>
          <a:p>
            <a:pPr marL="0" indent="0" algn="l">
              <a:lnSpc>
                <a:spcPct val="125000"/>
              </a:lnSpc>
              <a:buNone/>
            </a:pPr>
            <a:r>
              <a:rPr lang="en-US" sz="13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05 · KẾT LUẬN</a:t>
            </a:r>
            <a:endParaRPr lang="en-US" sz="1350" dirty="0"/>
          </a:p>
        </p:txBody>
      </p:sp>
      <p:sp>
        <p:nvSpPr>
          <p:cNvPr id="4" name="Text 2"/>
          <p:cNvSpPr/>
          <p:nvPr/>
        </p:nvSpPr>
        <p:spPr>
          <a:xfrm>
            <a:off x="619110" y="725785"/>
            <a:ext cx="10953674" cy="457200"/>
          </a:xfrm>
          <a:prstGeom prst="rect">
            <a:avLst/>
          </a:prstGeom>
          <a:noFill/>
        </p:spPr>
        <p:txBody>
          <a:bodyPr wrap="none" lIns="0" tIns="0" rIns="0" bIns="0" rtlCol="0" anchor="t"/>
          <a:lstStyle/>
          <a:p>
            <a:pPr marL="0" indent="0" algn="l">
              <a:lnSpc>
                <a:spcPct val="100000"/>
              </a:lnSpc>
              <a:buNone/>
            </a:pPr>
            <a:r>
              <a:rPr lang="en-US" sz="3000" b="1" dirty="0">
                <a:solidFill>
                  <a:srgbClr val="222B2A"/>
                </a:solidFill>
                <a:latin typeface="Tinos Bold" panose="02020803070505020304" pitchFamily="34" charset="0"/>
                <a:ea typeface="Tinos Bold" panose="02020803070505020304" pitchFamily="34" charset="-122"/>
                <a:cs typeface="Tinos Bold" panose="02020803070505020304" pitchFamily="34" charset="-120"/>
              </a:rPr>
              <a:t>Kết luận: học tập và sống có trách nhiệm</a:t>
            </a:r>
            <a:endParaRPr lang="en-US" sz="3000" dirty="0"/>
          </a:p>
        </p:txBody>
      </p:sp>
      <p:sp>
        <p:nvSpPr>
          <p:cNvPr id="5" name="Shape 3"/>
          <p:cNvSpPr/>
          <p:nvPr/>
        </p:nvSpPr>
        <p:spPr>
          <a:xfrm>
            <a:off x="619110" y="6429474"/>
            <a:ext cx="10953674" cy="19050"/>
          </a:xfrm>
          <a:prstGeom prst="rect">
            <a:avLst/>
          </a:prstGeom>
          <a:solidFill>
            <a:srgbClr val="DED6CA"/>
          </a:solidFill>
        </p:spPr>
      </p:sp>
      <p:sp>
        <p:nvSpPr>
          <p:cNvPr id="6" name="Text 4"/>
          <p:cNvSpPr/>
          <p:nvPr/>
        </p:nvSpPr>
        <p:spPr>
          <a:xfrm>
            <a:off x="619110" y="6511131"/>
            <a:ext cx="10896526" cy="158055"/>
          </a:xfrm>
          <a:prstGeom prst="rect">
            <a:avLst/>
          </a:prstGeom>
          <a:noFill/>
        </p:spPr>
        <p:txBody>
          <a:bodyPr wrap="none" lIns="0" tIns="0" rIns="0" bIns="0" rtlCol="0" anchor="t"/>
          <a:lstStyle/>
          <a:p>
            <a:pPr marL="0" indent="0" algn="l">
              <a:lnSpc>
                <a:spcPct val="125000"/>
              </a:lnSpc>
              <a:buNone/>
            </a:pPr>
            <a:r>
              <a:rPr lang="en-US" sz="850" dirty="0">
                <a:solidFill>
                  <a:srgbClr val="66706A"/>
                </a:solidFill>
                <a:latin typeface="Tinos" panose="02020603050405020304" pitchFamily="34" charset="0"/>
                <a:ea typeface="Tinos" panose="02020603050405020304" pitchFamily="34" charset="-122"/>
                <a:cs typeface="Tinos" panose="02020603050405020304" pitchFamily="34" charset="-120"/>
              </a:rPr>
              <a:t>TƯ TƯỞNG HỒ CHÍ MINH · VẬN DỤNG TRONG ĐỜI SỐNG SINH VIÊN</a:t>
            </a:r>
            <a:endParaRPr lang="en-US" sz="850" dirty="0"/>
          </a:p>
        </p:txBody>
      </p:sp>
      <p:sp>
        <p:nvSpPr>
          <p:cNvPr id="7" name="Text 5"/>
          <p:cNvSpPr/>
          <p:nvPr/>
        </p:nvSpPr>
        <p:spPr>
          <a:xfrm>
            <a:off x="11048922" y="6474321"/>
            <a:ext cx="1133447" cy="215205"/>
          </a:xfrm>
          <a:prstGeom prst="rect">
            <a:avLst/>
          </a:prstGeom>
          <a:noFill/>
        </p:spPr>
        <p:txBody>
          <a:bodyPr wrap="none" lIns="0" tIns="0" rIns="0" bIns="0" rtlCol="0" anchor="t"/>
          <a:lstStyle/>
          <a:p>
            <a:pPr marL="0" indent="0" algn="l">
              <a:lnSpc>
                <a:spcPct val="125000"/>
              </a:lnSpc>
              <a:buNone/>
            </a:pPr>
            <a:r>
              <a:rPr lang="en-US" sz="115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13</a:t>
            </a:r>
            <a:endParaRPr lang="en-US" sz="1150" dirty="0"/>
          </a:p>
        </p:txBody>
      </p:sp>
      <p:sp>
        <p:nvSpPr>
          <p:cNvPr id="8" name="Text 6"/>
          <p:cNvSpPr/>
          <p:nvPr/>
        </p:nvSpPr>
        <p:spPr>
          <a:xfrm>
            <a:off x="619110" y="1885553"/>
            <a:ext cx="10896526" cy="731441"/>
          </a:xfrm>
          <a:prstGeom prst="rect">
            <a:avLst/>
          </a:prstGeom>
          <a:noFill/>
        </p:spPr>
        <p:txBody>
          <a:bodyPr wrap="square" lIns="0" tIns="0" rIns="0" bIns="0" rtlCol="0" anchor="t">
            <a:normAutofit/>
          </a:bodyPr>
          <a:lstStyle/>
          <a:p>
            <a:pPr marL="0" indent="0" algn="l">
              <a:lnSpc>
                <a:spcPct val="100000"/>
              </a:lnSpc>
              <a:buNone/>
            </a:pPr>
            <a:r>
              <a:rPr lang="en-US" sz="2400" b="1" dirty="0">
                <a:solidFill>
                  <a:srgbClr val="285F56"/>
                </a:solidFill>
                <a:latin typeface="Tinos Bold" panose="02020803070505020304" pitchFamily="34" charset="0"/>
                <a:ea typeface="Tinos Bold" panose="02020803070505020304" pitchFamily="34" charset="-122"/>
                <a:cs typeface="Tinos Bold" panose="02020803070505020304" pitchFamily="34" charset="-120"/>
              </a:rPr>
              <a:t>Mục tiêu xây dựng CNXH hướng tới đời sống nhân dân ngày càng tốt đẹp hơn và sự phát triển của con người.</a:t>
            </a:r>
            <a:endParaRPr lang="en-US" sz="2400" dirty="0"/>
          </a:p>
        </p:txBody>
      </p:sp>
      <p:sp>
        <p:nvSpPr>
          <p:cNvPr id="9" name="Text 7"/>
          <p:cNvSpPr/>
          <p:nvPr/>
        </p:nvSpPr>
        <p:spPr>
          <a:xfrm>
            <a:off x="619110" y="3552527"/>
            <a:ext cx="3381390" cy="365720"/>
          </a:xfrm>
          <a:prstGeom prst="rect">
            <a:avLst/>
          </a:prstGeom>
          <a:noFill/>
        </p:spPr>
        <p:txBody>
          <a:bodyPr wrap="none" lIns="0" tIns="0" rIns="0" bIns="0" rtlCol="0" anchor="t"/>
          <a:lstStyle/>
          <a:p>
            <a:pPr marL="0" indent="0" algn="l">
              <a:lnSpc>
                <a:spcPct val="100000"/>
              </a:lnSpc>
              <a:buNone/>
            </a:pPr>
            <a:r>
              <a:rPr lang="en-US" sz="2400" b="1" dirty="0">
                <a:solidFill>
                  <a:srgbClr val="285F56"/>
                </a:solidFill>
                <a:latin typeface="Tinos Bold" panose="02020803070505020304" pitchFamily="34" charset="0"/>
                <a:ea typeface="Tinos Bold" panose="02020803070505020304" pitchFamily="34" charset="-122"/>
                <a:cs typeface="Tinos Bold" panose="02020803070505020304" pitchFamily="34" charset="-120"/>
              </a:rPr>
              <a:t>Học có trách nhiệm</a:t>
            </a:r>
            <a:endParaRPr lang="en-US" sz="2400" dirty="0"/>
          </a:p>
        </p:txBody>
      </p:sp>
      <p:sp>
        <p:nvSpPr>
          <p:cNvPr id="10" name="Text 8"/>
          <p:cNvSpPr/>
          <p:nvPr/>
        </p:nvSpPr>
        <p:spPr>
          <a:xfrm>
            <a:off x="619110" y="4301827"/>
            <a:ext cx="3324241" cy="664369"/>
          </a:xfrm>
          <a:prstGeom prst="rect">
            <a:avLst/>
          </a:prstGeom>
          <a:noFill/>
        </p:spPr>
        <p:txBody>
          <a:bodyPr wrap="square" lIns="0" tIns="0" rIns="0" bIns="0" rtlCol="0" anchor="t">
            <a:normAutofit/>
          </a:bodyPr>
          <a:lstStyle/>
          <a:p>
            <a:pPr marL="0" indent="0" algn="l">
              <a:lnSpc>
                <a:spcPct val="100000"/>
              </a:lnSpc>
              <a:buNone/>
            </a:pPr>
            <a:r>
              <a:rPr lang="en-US" sz="2200" dirty="0">
                <a:solidFill>
                  <a:srgbClr val="222B2A"/>
                </a:solidFill>
                <a:latin typeface="Tinos" panose="02020603050405020304" pitchFamily="34" charset="0"/>
                <a:ea typeface="Tinos" panose="02020603050405020304" pitchFamily="34" charset="-122"/>
                <a:cs typeface="Tinos" panose="02020603050405020304" pitchFamily="34" charset="-120"/>
              </a:rPr>
              <a:t>Nắm vững chuyên môn, gắn học với thực hành.</a:t>
            </a:r>
            <a:endParaRPr lang="en-US" sz="2200" dirty="0"/>
          </a:p>
        </p:txBody>
      </p:sp>
      <p:sp>
        <p:nvSpPr>
          <p:cNvPr id="11" name="Text 9"/>
          <p:cNvSpPr/>
          <p:nvPr/>
        </p:nvSpPr>
        <p:spPr>
          <a:xfrm>
            <a:off x="4333866" y="3552527"/>
            <a:ext cx="3381390" cy="365720"/>
          </a:xfrm>
          <a:prstGeom prst="rect">
            <a:avLst/>
          </a:prstGeom>
          <a:noFill/>
        </p:spPr>
        <p:txBody>
          <a:bodyPr wrap="none" lIns="0" tIns="0" rIns="0" bIns="0" rtlCol="0" anchor="t"/>
          <a:lstStyle/>
          <a:p>
            <a:pPr marL="0" indent="0" algn="l">
              <a:lnSpc>
                <a:spcPct val="100000"/>
              </a:lnSpc>
              <a:buNone/>
            </a:pPr>
            <a:r>
              <a:rPr lang="en-US" sz="2400" b="1" dirty="0">
                <a:solidFill>
                  <a:srgbClr val="8D292E"/>
                </a:solidFill>
                <a:latin typeface="Tinos Bold" panose="02020803070505020304" pitchFamily="34" charset="0"/>
                <a:ea typeface="Tinos Bold" panose="02020803070505020304" pitchFamily="34" charset="-122"/>
                <a:cs typeface="Tinos Bold" panose="02020803070505020304" pitchFamily="34" charset="-120"/>
              </a:rPr>
              <a:t>Làm chủ công nghệ</a:t>
            </a:r>
            <a:endParaRPr lang="en-US" sz="2400" dirty="0"/>
          </a:p>
        </p:txBody>
      </p:sp>
      <p:sp>
        <p:nvSpPr>
          <p:cNvPr id="12" name="Text 10"/>
          <p:cNvSpPr/>
          <p:nvPr/>
        </p:nvSpPr>
        <p:spPr>
          <a:xfrm>
            <a:off x="4333866" y="4301827"/>
            <a:ext cx="3324241" cy="664369"/>
          </a:xfrm>
          <a:prstGeom prst="rect">
            <a:avLst/>
          </a:prstGeom>
          <a:noFill/>
        </p:spPr>
        <p:txBody>
          <a:bodyPr wrap="square" lIns="0" tIns="0" rIns="0" bIns="0" rtlCol="0" anchor="t">
            <a:normAutofit/>
          </a:bodyPr>
          <a:lstStyle/>
          <a:p>
            <a:pPr marL="0" indent="0" algn="l">
              <a:lnSpc>
                <a:spcPct val="100000"/>
              </a:lnSpc>
              <a:buNone/>
            </a:pPr>
            <a:r>
              <a:rPr lang="en-US" sz="2200" dirty="0">
                <a:solidFill>
                  <a:srgbClr val="222B2A"/>
                </a:solidFill>
                <a:latin typeface="Tinos" panose="02020603050405020304" pitchFamily="34" charset="0"/>
                <a:ea typeface="Tinos" panose="02020603050405020304" pitchFamily="34" charset="-122"/>
                <a:cs typeface="Tinos" panose="02020603050405020304" pitchFamily="34" charset="-120"/>
              </a:rPr>
              <a:t>Sử dụng AI có kiểm chứng và chịu trách nhiệm.</a:t>
            </a:r>
            <a:endParaRPr lang="en-US" sz="2200" dirty="0"/>
          </a:p>
        </p:txBody>
      </p:sp>
      <p:sp>
        <p:nvSpPr>
          <p:cNvPr id="13" name="Text 11"/>
          <p:cNvSpPr/>
          <p:nvPr/>
        </p:nvSpPr>
        <p:spPr>
          <a:xfrm>
            <a:off x="8048622" y="3552527"/>
            <a:ext cx="3381390" cy="365720"/>
          </a:xfrm>
          <a:prstGeom prst="rect">
            <a:avLst/>
          </a:prstGeom>
          <a:noFill/>
        </p:spPr>
        <p:txBody>
          <a:bodyPr wrap="none" lIns="0" tIns="0" rIns="0" bIns="0" rtlCol="0" anchor="t"/>
          <a:lstStyle/>
          <a:p>
            <a:pPr marL="0" indent="0" algn="l">
              <a:lnSpc>
                <a:spcPct val="100000"/>
              </a:lnSpc>
              <a:buNone/>
            </a:pPr>
            <a:r>
              <a:rPr lang="en-US" sz="2400" b="1" dirty="0">
                <a:solidFill>
                  <a:srgbClr val="285F56"/>
                </a:solidFill>
                <a:latin typeface="Tinos Bold" panose="02020803070505020304" pitchFamily="34" charset="0"/>
                <a:ea typeface="Tinos Bold" panose="02020803070505020304" pitchFamily="34" charset="-122"/>
                <a:cs typeface="Tinos Bold" panose="02020803070505020304" pitchFamily="34" charset="-120"/>
              </a:rPr>
              <a:t>Ứng xử văn minh</a:t>
            </a:r>
            <a:endParaRPr lang="en-US" sz="2400" dirty="0"/>
          </a:p>
        </p:txBody>
      </p:sp>
      <p:sp>
        <p:nvSpPr>
          <p:cNvPr id="14" name="Text 12"/>
          <p:cNvSpPr/>
          <p:nvPr/>
        </p:nvSpPr>
        <p:spPr>
          <a:xfrm>
            <a:off x="8048622" y="4301827"/>
            <a:ext cx="3324241" cy="664369"/>
          </a:xfrm>
          <a:prstGeom prst="rect">
            <a:avLst/>
          </a:prstGeom>
          <a:noFill/>
        </p:spPr>
        <p:txBody>
          <a:bodyPr wrap="square" lIns="0" tIns="0" rIns="0" bIns="0" rtlCol="0" anchor="t">
            <a:normAutofit/>
          </a:bodyPr>
          <a:lstStyle/>
          <a:p>
            <a:pPr marL="0" indent="0" algn="l">
              <a:lnSpc>
                <a:spcPct val="100000"/>
              </a:lnSpc>
              <a:buNone/>
            </a:pPr>
            <a:r>
              <a:rPr lang="en-US" sz="2200" dirty="0">
                <a:solidFill>
                  <a:srgbClr val="222B2A"/>
                </a:solidFill>
                <a:latin typeface="Tinos" panose="02020603050405020304" pitchFamily="34" charset="0"/>
                <a:ea typeface="Tinos" panose="02020603050405020304" pitchFamily="34" charset="-122"/>
                <a:cs typeface="Tinos" panose="02020603050405020304" pitchFamily="34" charset="-120"/>
              </a:rPr>
              <a:t>Tôn trọng sự thật, người khác và lợi ích chung.</a:t>
            </a:r>
            <a:endParaRPr lang="en-US" sz="2200" dirty="0"/>
          </a:p>
        </p:txBody>
      </p:sp>
      <p:sp>
        <p:nvSpPr>
          <p:cNvPr id="15" name="Shape 13"/>
          <p:cNvSpPr/>
          <p:nvPr/>
        </p:nvSpPr>
        <p:spPr>
          <a:xfrm>
            <a:off x="619110" y="5572224"/>
            <a:ext cx="10953674" cy="619125"/>
          </a:xfrm>
          <a:prstGeom prst="rect">
            <a:avLst/>
          </a:prstGeom>
          <a:solidFill>
            <a:srgbClr val="285F56"/>
          </a:solidFill>
        </p:spPr>
      </p:sp>
      <p:sp>
        <p:nvSpPr>
          <p:cNvPr id="16" name="Text 14"/>
          <p:cNvSpPr/>
          <p:nvPr/>
        </p:nvSpPr>
        <p:spPr>
          <a:xfrm>
            <a:off x="809605" y="5681762"/>
            <a:ext cx="11182269" cy="358080"/>
          </a:xfrm>
          <a:prstGeom prst="rect">
            <a:avLst/>
          </a:prstGeom>
          <a:noFill/>
        </p:spPr>
        <p:txBody>
          <a:bodyPr wrap="none" lIns="0" tIns="0" rIns="0" bIns="0" rtlCol="0" anchor="t"/>
          <a:lstStyle/>
          <a:p>
            <a:pPr marL="0" indent="0" algn="l">
              <a:lnSpc>
                <a:spcPct val="125000"/>
              </a:lnSpc>
              <a:buNone/>
            </a:pPr>
            <a:r>
              <a:rPr lang="en-US" sz="1900" b="1" dirty="0">
                <a:solidFill>
                  <a:srgbClr val="FFFFFF"/>
                </a:solidFill>
                <a:latin typeface="Tinos Bold" panose="02020803070505020304" pitchFamily="34" charset="0"/>
                <a:ea typeface="Tinos Bold" panose="02020803070505020304" pitchFamily="34" charset="-122"/>
                <a:cs typeface="Tinos Bold" panose="02020803070505020304" pitchFamily="34" charset="-120"/>
              </a:rPr>
              <a:t>Thói quen nhỏ hôm nay góp phần tạo nên năng lực ngày mai</a:t>
            </a:r>
            <a:endParaRPr lang="en-US" sz="1900" dirty="0"/>
          </a:p>
        </p:txBody>
      </p:sp>
      <p:pic>
        <p:nvPicPr>
          <p:cNvPr id="17" name="Image 0" descr="preencoded.png"/>
          <p:cNvPicPr>
            <a:picLocks noChangeAspect="1"/>
          </p:cNvPicPr>
          <p:nvPr/>
        </p:nvPicPr>
        <p:blipFill>
          <a:blip r:embed="rId1"/>
          <a:stretch>
            <a:fillRect/>
          </a:stretch>
        </p:blipFill>
        <p:spPr>
          <a:xfrm>
            <a:off x="11077000" y="6559252"/>
            <a:ext cx="1071833" cy="25598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hape 3"/>
          <p:cNvSpPr/>
          <p:nvPr/>
        </p:nvSpPr>
        <p:spPr>
          <a:xfrm>
            <a:off x="619110" y="6429474"/>
            <a:ext cx="10953674" cy="19050"/>
          </a:xfrm>
          <a:prstGeom prst="rect">
            <a:avLst/>
          </a:prstGeom>
          <a:solidFill>
            <a:srgbClr val="DED6CA"/>
          </a:solidFill>
        </p:spPr>
      </p:sp>
      <p:sp>
        <p:nvSpPr>
          <p:cNvPr id="6" name="Text 4"/>
          <p:cNvSpPr/>
          <p:nvPr/>
        </p:nvSpPr>
        <p:spPr>
          <a:xfrm>
            <a:off x="619110" y="6511131"/>
            <a:ext cx="10896526" cy="158055"/>
          </a:xfrm>
          <a:prstGeom prst="rect">
            <a:avLst/>
          </a:prstGeom>
          <a:noFill/>
        </p:spPr>
        <p:txBody>
          <a:bodyPr wrap="none" lIns="0" tIns="0" rIns="0" bIns="0" rtlCol="0" anchor="t"/>
          <a:lstStyle/>
          <a:p>
            <a:pPr marL="0" indent="0" algn="l">
              <a:lnSpc>
                <a:spcPct val="125000"/>
              </a:lnSpc>
              <a:buNone/>
            </a:pPr>
            <a:r>
              <a:rPr lang="en-US" sz="850" dirty="0">
                <a:solidFill>
                  <a:srgbClr val="66706A"/>
                </a:solidFill>
                <a:latin typeface="Tinos" panose="02020603050405020304" pitchFamily="34" charset="0"/>
                <a:ea typeface="Tinos" panose="02020603050405020304" pitchFamily="34" charset="-122"/>
                <a:cs typeface="Tinos" panose="02020603050405020304" pitchFamily="34" charset="-120"/>
              </a:rPr>
              <a:t>TƯ TƯỞNG HỒ CHÍ MINH · VẬN DỤNG TRONG ĐỜI SỐNG SINH VIÊN</a:t>
            </a:r>
            <a:endParaRPr lang="en-US" sz="850" dirty="0"/>
          </a:p>
        </p:txBody>
      </p:sp>
      <p:sp>
        <p:nvSpPr>
          <p:cNvPr id="13" name="Shape 11"/>
          <p:cNvSpPr/>
          <p:nvPr/>
        </p:nvSpPr>
        <p:spPr>
          <a:xfrm>
            <a:off x="3523615" y="2205355"/>
            <a:ext cx="5143500" cy="1744980"/>
          </a:xfrm>
          <a:prstGeom prst="rect">
            <a:avLst/>
          </a:prstGeom>
          <a:solidFill>
            <a:srgbClr val="8D292E"/>
          </a:solidFill>
        </p:spPr>
      </p:sp>
      <p:sp>
        <p:nvSpPr>
          <p:cNvPr id="14" name="Text 12"/>
          <p:cNvSpPr/>
          <p:nvPr/>
        </p:nvSpPr>
        <p:spPr>
          <a:xfrm>
            <a:off x="3695065" y="2519680"/>
            <a:ext cx="4800600" cy="897255"/>
          </a:xfrm>
          <a:prstGeom prst="rect">
            <a:avLst/>
          </a:prstGeom>
          <a:noFill/>
        </p:spPr>
        <p:txBody>
          <a:bodyPr wrap="none" lIns="0" tIns="0" rIns="0" bIns="0" rtlCol="0" anchor="t"/>
          <a:lstStyle/>
          <a:p>
            <a:pPr marL="0" indent="0" algn="ctr">
              <a:lnSpc>
                <a:spcPct val="100000"/>
              </a:lnSpc>
              <a:buNone/>
            </a:pPr>
            <a:r>
              <a:rPr lang="en-US" sz="3600" b="1" dirty="0">
                <a:solidFill>
                  <a:schemeClr val="bg1"/>
                </a:solidFill>
              </a:rPr>
              <a:t>CẢM ƠN CÔ VÀ CÁC BẠN</a:t>
            </a:r>
            <a:endParaRPr lang="en-US" sz="3600" b="1" dirty="0">
              <a:solidFill>
                <a:schemeClr val="bg1"/>
              </a:solidFill>
            </a:endParaRPr>
          </a:p>
          <a:p>
            <a:pPr marL="0" indent="0" algn="ctr">
              <a:lnSpc>
                <a:spcPct val="100000"/>
              </a:lnSpc>
              <a:buNone/>
            </a:pPr>
            <a:r>
              <a:rPr lang="en-US" sz="3600" b="1" dirty="0">
                <a:solidFill>
                  <a:schemeClr val="bg1"/>
                </a:solidFill>
              </a:rPr>
              <a:t>ĐÃ LẮNG NGHE</a:t>
            </a:r>
            <a:endParaRPr lang="en-US" sz="3600" b="1"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7008</Words>
  <Application>WPS Presentation</Application>
  <PresentationFormat>On-screen Show (16:9)</PresentationFormat>
  <Paragraphs>318</Paragraphs>
  <Slides>14</Slides>
  <Notes>13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Arial</vt:lpstr>
      <vt:lpstr>SimSun</vt:lpstr>
      <vt:lpstr>Wingdings</vt:lpstr>
      <vt:lpstr>Tinos Bold</vt:lpstr>
      <vt:lpstr>Tinos Bold</vt:lpstr>
      <vt:lpstr>Tinos Bold</vt:lpstr>
      <vt:lpstr>Tinos</vt:lpstr>
      <vt:lpstr>Tinos</vt:lpstr>
      <vt:lpstr>Tinos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haini</cp:lastModifiedBy>
  <cp:revision>5</cp:revision>
  <dcterms:created xsi:type="dcterms:W3CDTF">2026-10-13T17:06:00Z</dcterms:created>
  <dcterms:modified xsi:type="dcterms:W3CDTF">2026-10-21T12:05:24Z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2E0DA7CBD18845BEB5CD7E1C03D6D4FF_13</vt:lpwstr>
  </property>
</Properties>
</file>